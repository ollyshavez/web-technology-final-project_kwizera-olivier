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Lst>
  <p:sldSz cx="18288000" cy="10287000"/>
  <p:notesSz cx="6858000" cy="9144000"/>
  <p:embeddedFontLst>
    <p:embeddedFont>
      <p:font typeface="Calibri (MS)" panose="020B0604020202020204" charset="0"/>
      <p:regular r:id="rId8"/>
    </p:embeddedFont>
    <p:embeddedFont>
      <p:font typeface="Calibri (MS) Bold" panose="020B0604020202020204" charset="0"/>
      <p:regular r:id="rId9"/>
    </p:embeddedFont>
    <p:embeddedFont>
      <p:font typeface="Canva Sans" panose="020B0604020202020204" charset="0"/>
      <p:regular r:id="rId10"/>
    </p:embeddedFont>
    <p:embeddedFont>
      <p:font typeface="Canva Sans Bold" panose="020B0604020202020204" charset="0"/>
      <p:regular r:id="rId11"/>
    </p:embeddedFont>
    <p:embeddedFont>
      <p:font typeface="TT Rounds Condensed" panose="020B0604020202020204" charset="0"/>
      <p:regular r:id="rId12"/>
    </p:embeddedFont>
    <p:embeddedFont>
      <p:font typeface="TT Rounds Condensed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1.fntdata"/><Relationship Id="rId13" Type="http://schemas.openxmlformats.org/officeDocument/2006/relationships/font" Target="fonts/font6.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5.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font" Target="fonts/font2.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F6F8FC">
                <a:alpha val="100000"/>
              </a:srgbClr>
            </a:gs>
            <a:gs pos="74000">
              <a:srgbClr val="ABC0E4">
                <a:alpha val="100000"/>
              </a:srgbClr>
            </a:gs>
            <a:gs pos="83000">
              <a:srgbClr val="ABC0E4">
                <a:alpha val="100000"/>
              </a:srgbClr>
            </a:gs>
            <a:gs pos="100000">
              <a:srgbClr val="C7D5ED">
                <a:alpha val="100000"/>
              </a:srgbClr>
            </a:gs>
          </a:gsLst>
          <a:lin ang="5400000"/>
        </a:gradFill>
        <a:effectLst/>
      </p:bgPr>
    </p:bg>
    <p:spTree>
      <p:nvGrpSpPr>
        <p:cNvPr id="1" name=""/>
        <p:cNvGrpSpPr/>
        <p:nvPr/>
      </p:nvGrpSpPr>
      <p:grpSpPr>
        <a:xfrm>
          <a:off x="0" y="0"/>
          <a:ext cx="0" cy="0"/>
          <a:chOff x="0" y="0"/>
          <a:chExt cx="0" cy="0"/>
        </a:xfrm>
      </p:grpSpPr>
      <p:sp>
        <p:nvSpPr>
          <p:cNvPr id="2" name="Freeform 2"/>
          <p:cNvSpPr/>
          <p:nvPr/>
        </p:nvSpPr>
        <p:spPr>
          <a:xfrm>
            <a:off x="0" y="9087"/>
            <a:ext cx="18288000" cy="447675"/>
          </a:xfrm>
          <a:custGeom>
            <a:avLst/>
            <a:gdLst/>
            <a:ahLst/>
            <a:cxnLst/>
            <a:rect l="l" t="t" r="r" b="b"/>
            <a:pathLst>
              <a:path w="18288000" h="447675">
                <a:moveTo>
                  <a:pt x="0" y="0"/>
                </a:moveTo>
                <a:lnTo>
                  <a:pt x="18288000" y="0"/>
                </a:lnTo>
                <a:lnTo>
                  <a:pt x="18288000" y="447675"/>
                </a:lnTo>
                <a:lnTo>
                  <a:pt x="0" y="447675"/>
                </a:lnTo>
                <a:lnTo>
                  <a:pt x="0" y="0"/>
                </a:lnTo>
                <a:close/>
              </a:path>
            </a:pathLst>
          </a:custGeom>
          <a:blipFill>
            <a:blip r:embed="rId2"/>
            <a:stretch>
              <a:fillRect/>
            </a:stretch>
          </a:blipFill>
        </p:spPr>
        <p:txBody>
          <a:bodyPr/>
          <a:lstStyle/>
          <a:p>
            <a:endParaRPr lang="en-GH"/>
          </a:p>
        </p:txBody>
      </p:sp>
      <p:sp>
        <p:nvSpPr>
          <p:cNvPr id="3" name="Freeform 3" descr="A picture containing food  Description automatically generated"/>
          <p:cNvSpPr/>
          <p:nvPr/>
        </p:nvSpPr>
        <p:spPr>
          <a:xfrm>
            <a:off x="7390514" y="6240970"/>
            <a:ext cx="3506962" cy="3141097"/>
          </a:xfrm>
          <a:custGeom>
            <a:avLst/>
            <a:gdLst/>
            <a:ahLst/>
            <a:cxnLst/>
            <a:rect l="l" t="t" r="r" b="b"/>
            <a:pathLst>
              <a:path w="3506962" h="3141097">
                <a:moveTo>
                  <a:pt x="0" y="0"/>
                </a:moveTo>
                <a:lnTo>
                  <a:pt x="3506962" y="0"/>
                </a:lnTo>
                <a:lnTo>
                  <a:pt x="3506962" y="3141098"/>
                </a:lnTo>
                <a:lnTo>
                  <a:pt x="0" y="3141098"/>
                </a:lnTo>
                <a:lnTo>
                  <a:pt x="0" y="0"/>
                </a:lnTo>
                <a:close/>
              </a:path>
            </a:pathLst>
          </a:custGeom>
          <a:blipFill>
            <a:blip r:embed="rId3">
              <a:alphaModFix amt="65000"/>
            </a:blip>
            <a:stretch>
              <a:fillRect/>
            </a:stretch>
          </a:blipFill>
        </p:spPr>
        <p:txBody>
          <a:bodyPr/>
          <a:lstStyle/>
          <a:p>
            <a:endParaRPr lang="en-GH"/>
          </a:p>
        </p:txBody>
      </p:sp>
      <p:grpSp>
        <p:nvGrpSpPr>
          <p:cNvPr id="4" name="Group 4"/>
          <p:cNvGrpSpPr/>
          <p:nvPr/>
        </p:nvGrpSpPr>
        <p:grpSpPr>
          <a:xfrm>
            <a:off x="2286000" y="1683544"/>
            <a:ext cx="13716000" cy="3581400"/>
            <a:chOff x="0" y="0"/>
            <a:chExt cx="18288000" cy="4775200"/>
          </a:xfrm>
        </p:grpSpPr>
        <p:sp>
          <p:nvSpPr>
            <p:cNvPr id="5" name="Freeform 5"/>
            <p:cNvSpPr/>
            <p:nvPr/>
          </p:nvSpPr>
          <p:spPr>
            <a:xfrm>
              <a:off x="0" y="0"/>
              <a:ext cx="18288000" cy="4775200"/>
            </a:xfrm>
            <a:custGeom>
              <a:avLst/>
              <a:gdLst/>
              <a:ahLst/>
              <a:cxnLst/>
              <a:rect l="l" t="t" r="r" b="b"/>
              <a:pathLst>
                <a:path w="18288000" h="4775200">
                  <a:moveTo>
                    <a:pt x="0" y="0"/>
                  </a:moveTo>
                  <a:lnTo>
                    <a:pt x="18288000" y="0"/>
                  </a:lnTo>
                  <a:lnTo>
                    <a:pt x="18288000" y="4775200"/>
                  </a:lnTo>
                  <a:lnTo>
                    <a:pt x="0" y="4775200"/>
                  </a:lnTo>
                  <a:close/>
                </a:path>
              </a:pathLst>
            </a:custGeom>
            <a:solidFill>
              <a:srgbClr val="000000">
                <a:alpha val="0"/>
              </a:srgbClr>
            </a:solidFill>
            <a:ln w="12700">
              <a:solidFill>
                <a:srgbClr val="000000"/>
              </a:solidFill>
            </a:ln>
          </p:spPr>
          <p:txBody>
            <a:bodyPr/>
            <a:lstStyle/>
            <a:p>
              <a:endParaRPr lang="en-GH"/>
            </a:p>
          </p:txBody>
        </p:sp>
        <p:sp>
          <p:nvSpPr>
            <p:cNvPr id="6" name="TextBox 6"/>
            <p:cNvSpPr txBox="1"/>
            <p:nvPr/>
          </p:nvSpPr>
          <p:spPr>
            <a:xfrm>
              <a:off x="0" y="95250"/>
              <a:ext cx="18288000" cy="4679950"/>
            </a:xfrm>
            <a:prstGeom prst="rect">
              <a:avLst/>
            </a:prstGeom>
          </p:spPr>
          <p:txBody>
            <a:bodyPr lIns="0" tIns="0" rIns="0" bIns="0" rtlCol="0" anchor="b"/>
            <a:lstStyle/>
            <a:p>
              <a:pPr algn="ctr">
                <a:lnSpc>
                  <a:spcPts val="9720"/>
                </a:lnSpc>
              </a:pPr>
              <a:r>
                <a:rPr lang="en-US" sz="9000" spc="-54">
                  <a:solidFill>
                    <a:srgbClr val="923D41"/>
                  </a:solidFill>
                  <a:latin typeface="TT Rounds Condensed"/>
                  <a:ea typeface="TT Rounds Condensed"/>
                  <a:cs typeface="TT Rounds Condensed"/>
                  <a:sym typeface="TT Rounds Condensed"/>
                </a:rPr>
                <a:t>Kwizera Olivier </a:t>
              </a:r>
            </a:p>
          </p:txBody>
        </p:sp>
      </p:grpSp>
      <p:sp>
        <p:nvSpPr>
          <p:cNvPr id="7" name="TextBox 7"/>
          <p:cNvSpPr txBox="1"/>
          <p:nvPr/>
        </p:nvSpPr>
        <p:spPr>
          <a:xfrm>
            <a:off x="2377440" y="5429726"/>
            <a:ext cx="13533120" cy="2411254"/>
          </a:xfrm>
          <a:prstGeom prst="rect">
            <a:avLst/>
          </a:prstGeom>
        </p:spPr>
        <p:txBody>
          <a:bodyPr lIns="0" tIns="0" rIns="0" bIns="0" rtlCol="0" anchor="t">
            <a:spAutoFit/>
          </a:bodyPr>
          <a:lstStyle/>
          <a:p>
            <a:pPr algn="ctr">
              <a:lnSpc>
                <a:spcPts val="3888"/>
              </a:lnSpc>
            </a:pPr>
            <a:r>
              <a:rPr lang="en-US" sz="3600">
                <a:solidFill>
                  <a:srgbClr val="000000"/>
                </a:solidFill>
                <a:latin typeface="Calibri (MS)"/>
                <a:ea typeface="Calibri (MS)"/>
                <a:cs typeface="Calibri (MS)"/>
                <a:sym typeface="Calibri (MS)"/>
              </a:rPr>
              <a:t>Web Tech Summer 2025 Final Exams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87"/>
            <a:ext cx="18288000" cy="447675"/>
          </a:xfrm>
          <a:custGeom>
            <a:avLst/>
            <a:gdLst/>
            <a:ahLst/>
            <a:cxnLst/>
            <a:rect l="l" t="t" r="r" b="b"/>
            <a:pathLst>
              <a:path w="18288000" h="447675">
                <a:moveTo>
                  <a:pt x="0" y="0"/>
                </a:moveTo>
                <a:lnTo>
                  <a:pt x="18288000" y="0"/>
                </a:lnTo>
                <a:lnTo>
                  <a:pt x="18288000" y="447675"/>
                </a:lnTo>
                <a:lnTo>
                  <a:pt x="0" y="447675"/>
                </a:lnTo>
                <a:lnTo>
                  <a:pt x="0" y="0"/>
                </a:lnTo>
                <a:close/>
              </a:path>
            </a:pathLst>
          </a:custGeom>
          <a:blipFill>
            <a:blip r:embed="rId2"/>
            <a:stretch>
              <a:fillRect/>
            </a:stretch>
          </a:blipFill>
        </p:spPr>
        <p:txBody>
          <a:bodyPr/>
          <a:lstStyle/>
          <a:p>
            <a:endParaRPr lang="en-GH"/>
          </a:p>
        </p:txBody>
      </p:sp>
      <p:grpSp>
        <p:nvGrpSpPr>
          <p:cNvPr id="3" name="Group 3"/>
          <p:cNvGrpSpPr/>
          <p:nvPr/>
        </p:nvGrpSpPr>
        <p:grpSpPr>
          <a:xfrm>
            <a:off x="1257300" y="3637805"/>
            <a:ext cx="15773400" cy="5970253"/>
            <a:chOff x="0" y="0"/>
            <a:chExt cx="21031200" cy="7960338"/>
          </a:xfrm>
        </p:grpSpPr>
        <p:sp>
          <p:nvSpPr>
            <p:cNvPr id="4" name="Freeform 4"/>
            <p:cNvSpPr/>
            <p:nvPr/>
          </p:nvSpPr>
          <p:spPr>
            <a:xfrm>
              <a:off x="0" y="0"/>
              <a:ext cx="21031200" cy="7960337"/>
            </a:xfrm>
            <a:custGeom>
              <a:avLst/>
              <a:gdLst/>
              <a:ahLst/>
              <a:cxnLst/>
              <a:rect l="l" t="t" r="r" b="b"/>
              <a:pathLst>
                <a:path w="21031200" h="7960337">
                  <a:moveTo>
                    <a:pt x="0" y="0"/>
                  </a:moveTo>
                  <a:lnTo>
                    <a:pt x="21031200" y="0"/>
                  </a:lnTo>
                  <a:lnTo>
                    <a:pt x="21031200" y="7960337"/>
                  </a:lnTo>
                  <a:lnTo>
                    <a:pt x="0" y="7960337"/>
                  </a:lnTo>
                  <a:close/>
                </a:path>
              </a:pathLst>
            </a:custGeom>
            <a:solidFill>
              <a:srgbClr val="000000">
                <a:alpha val="0"/>
              </a:srgbClr>
            </a:solidFill>
            <a:ln w="12700">
              <a:solidFill>
                <a:srgbClr val="000000"/>
              </a:solidFill>
            </a:ln>
          </p:spPr>
          <p:txBody>
            <a:bodyPr/>
            <a:lstStyle/>
            <a:p>
              <a:endParaRPr lang="en-GH"/>
            </a:p>
          </p:txBody>
        </p:sp>
        <p:sp>
          <p:nvSpPr>
            <p:cNvPr id="5" name="TextBox 5"/>
            <p:cNvSpPr txBox="1"/>
            <p:nvPr/>
          </p:nvSpPr>
          <p:spPr>
            <a:xfrm>
              <a:off x="0" y="-57150"/>
              <a:ext cx="21031200" cy="8017488"/>
            </a:xfrm>
            <a:prstGeom prst="rect">
              <a:avLst/>
            </a:prstGeom>
          </p:spPr>
          <p:txBody>
            <a:bodyPr lIns="0" tIns="0" rIns="0" bIns="0" rtlCol="0" anchor="ctr"/>
            <a:lstStyle/>
            <a:p>
              <a:pPr algn="just">
                <a:lnSpc>
                  <a:spcPts val="5715"/>
                </a:lnSpc>
              </a:pPr>
              <a:r>
                <a:rPr lang="en-US" sz="4500" spc="-27" dirty="0">
                  <a:solidFill>
                    <a:srgbClr val="000000"/>
                  </a:solidFill>
                  <a:latin typeface="Times New Roman"/>
                  <a:ea typeface="Times New Roman"/>
                  <a:cs typeface="Times New Roman"/>
                  <a:sym typeface="Times New Roman"/>
                </a:rPr>
                <a:t>Olivier is developing a comprehensive digital marketplace and advisory platform called </a:t>
              </a:r>
              <a:r>
                <a:rPr lang="en-US" sz="4500" spc="-27" dirty="0" err="1">
                  <a:solidFill>
                    <a:srgbClr val="000000"/>
                  </a:solidFill>
                  <a:latin typeface="Times New Roman"/>
                  <a:ea typeface="Times New Roman"/>
                  <a:cs typeface="Times New Roman"/>
                  <a:sym typeface="Times New Roman"/>
                </a:rPr>
                <a:t>AgriShop</a:t>
              </a:r>
              <a:r>
                <a:rPr lang="en-US" sz="4500" spc="-27" dirty="0">
                  <a:solidFill>
                    <a:srgbClr val="000000"/>
                  </a:solidFill>
                  <a:latin typeface="Times New Roman"/>
                  <a:ea typeface="Times New Roman"/>
                  <a:cs typeface="Times New Roman"/>
                  <a:sym typeface="Times New Roman"/>
                </a:rPr>
                <a:t> Rwanda. The platform enables smallholder farmers and agricultural buyers to connect directly through an intuitive online marketplace designed to promote fair trade, price transparency, and agricultural empowerment. Users can buy and sell fresh produce, access real-time market prices, and receive location-based weather and farming advisory </a:t>
              </a:r>
              <a:r>
                <a:rPr lang="en-US" sz="4500" spc="-27" dirty="0" err="1">
                  <a:solidFill>
                    <a:srgbClr val="000000"/>
                  </a:solidFill>
                  <a:latin typeface="Times New Roman"/>
                  <a:ea typeface="Times New Roman"/>
                  <a:cs typeface="Times New Roman"/>
                  <a:sym typeface="Times New Roman"/>
                </a:rPr>
                <a:t>services,all</a:t>
              </a:r>
              <a:r>
                <a:rPr lang="en-US" sz="4500" spc="-27" dirty="0">
                  <a:solidFill>
                    <a:srgbClr val="000000"/>
                  </a:solidFill>
                  <a:latin typeface="Times New Roman"/>
                  <a:ea typeface="Times New Roman"/>
                  <a:cs typeface="Times New Roman"/>
                  <a:sym typeface="Times New Roman"/>
                </a:rPr>
                <a:t> through an easy-to-use web interface.</a:t>
              </a:r>
            </a:p>
          </p:txBody>
        </p:sp>
      </p:grpSp>
      <p:sp>
        <p:nvSpPr>
          <p:cNvPr id="6" name="TextBox 6"/>
          <p:cNvSpPr txBox="1"/>
          <p:nvPr/>
        </p:nvSpPr>
        <p:spPr>
          <a:xfrm>
            <a:off x="2506136" y="1178286"/>
            <a:ext cx="11076980" cy="1399679"/>
          </a:xfrm>
          <a:prstGeom prst="rect">
            <a:avLst/>
          </a:prstGeom>
        </p:spPr>
        <p:txBody>
          <a:bodyPr lIns="0" tIns="0" rIns="0" bIns="0" rtlCol="0" anchor="t">
            <a:spAutoFit/>
          </a:bodyPr>
          <a:lstStyle/>
          <a:p>
            <a:pPr algn="ctr">
              <a:lnSpc>
                <a:spcPts val="12880"/>
              </a:lnSpc>
            </a:pPr>
            <a:r>
              <a:rPr lang="en-US" sz="4800" b="1" dirty="0">
                <a:solidFill>
                  <a:srgbClr val="000000"/>
                </a:solidFill>
                <a:latin typeface="Canva Sans Bold"/>
                <a:ea typeface="Canva Sans Bold"/>
                <a:cs typeface="Canva Sans Bold"/>
                <a:sym typeface="Canva Sans Bold"/>
              </a:rPr>
              <a:t>Project Description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87"/>
            <a:ext cx="18288000" cy="447675"/>
          </a:xfrm>
          <a:custGeom>
            <a:avLst/>
            <a:gdLst/>
            <a:ahLst/>
            <a:cxnLst/>
            <a:rect l="l" t="t" r="r" b="b"/>
            <a:pathLst>
              <a:path w="18288000" h="447675">
                <a:moveTo>
                  <a:pt x="0" y="0"/>
                </a:moveTo>
                <a:lnTo>
                  <a:pt x="18288000" y="0"/>
                </a:lnTo>
                <a:lnTo>
                  <a:pt x="18288000" y="447675"/>
                </a:lnTo>
                <a:lnTo>
                  <a:pt x="0" y="447675"/>
                </a:lnTo>
                <a:lnTo>
                  <a:pt x="0" y="0"/>
                </a:lnTo>
                <a:close/>
              </a:path>
            </a:pathLst>
          </a:custGeom>
          <a:blipFill>
            <a:blip r:embed="rId2"/>
            <a:stretch>
              <a:fillRect/>
            </a:stretch>
          </a:blipFill>
        </p:spPr>
        <p:txBody>
          <a:bodyPr/>
          <a:lstStyle/>
          <a:p>
            <a:endParaRPr lang="en-GH"/>
          </a:p>
        </p:txBody>
      </p:sp>
      <p:grpSp>
        <p:nvGrpSpPr>
          <p:cNvPr id="3" name="Group 3"/>
          <p:cNvGrpSpPr/>
          <p:nvPr/>
        </p:nvGrpSpPr>
        <p:grpSpPr>
          <a:xfrm>
            <a:off x="8025803" y="6229093"/>
            <a:ext cx="5260200" cy="2938653"/>
            <a:chOff x="0" y="0"/>
            <a:chExt cx="7013600" cy="3918204"/>
          </a:xfrm>
        </p:grpSpPr>
        <p:sp>
          <p:nvSpPr>
            <p:cNvPr id="4" name="Freeform 4"/>
            <p:cNvSpPr/>
            <p:nvPr/>
          </p:nvSpPr>
          <p:spPr>
            <a:xfrm>
              <a:off x="0" y="0"/>
              <a:ext cx="7013575" cy="3918204"/>
            </a:xfrm>
            <a:custGeom>
              <a:avLst/>
              <a:gdLst/>
              <a:ahLst/>
              <a:cxnLst/>
              <a:rect l="l" t="t" r="r" b="b"/>
              <a:pathLst>
                <a:path w="7013575" h="3918204">
                  <a:moveTo>
                    <a:pt x="12700" y="0"/>
                  </a:moveTo>
                  <a:lnTo>
                    <a:pt x="7000875" y="0"/>
                  </a:lnTo>
                  <a:cubicBezTo>
                    <a:pt x="7007860" y="0"/>
                    <a:pt x="7013575" y="5715"/>
                    <a:pt x="7013575" y="12700"/>
                  </a:cubicBezTo>
                  <a:lnTo>
                    <a:pt x="7013575" y="3905504"/>
                  </a:lnTo>
                  <a:cubicBezTo>
                    <a:pt x="7013575" y="3912489"/>
                    <a:pt x="7007860" y="3918204"/>
                    <a:pt x="7000875" y="3918204"/>
                  </a:cubicBezTo>
                  <a:lnTo>
                    <a:pt x="12700" y="3918204"/>
                  </a:lnTo>
                  <a:cubicBezTo>
                    <a:pt x="5715" y="3918204"/>
                    <a:pt x="0" y="3912489"/>
                    <a:pt x="0" y="3905504"/>
                  </a:cubicBezTo>
                  <a:lnTo>
                    <a:pt x="0" y="12700"/>
                  </a:lnTo>
                  <a:cubicBezTo>
                    <a:pt x="0" y="5715"/>
                    <a:pt x="5715" y="0"/>
                    <a:pt x="12700" y="0"/>
                  </a:cubicBezTo>
                  <a:moveTo>
                    <a:pt x="12700" y="25400"/>
                  </a:moveTo>
                  <a:lnTo>
                    <a:pt x="12700" y="12700"/>
                  </a:lnTo>
                  <a:lnTo>
                    <a:pt x="25400" y="12700"/>
                  </a:lnTo>
                  <a:lnTo>
                    <a:pt x="25400" y="3905504"/>
                  </a:lnTo>
                  <a:lnTo>
                    <a:pt x="12700" y="3905504"/>
                  </a:lnTo>
                  <a:lnTo>
                    <a:pt x="12700" y="3892804"/>
                  </a:lnTo>
                  <a:lnTo>
                    <a:pt x="7000875" y="3892804"/>
                  </a:lnTo>
                  <a:lnTo>
                    <a:pt x="7000875" y="3905504"/>
                  </a:lnTo>
                  <a:lnTo>
                    <a:pt x="6988175" y="3905504"/>
                  </a:lnTo>
                  <a:lnTo>
                    <a:pt x="6988175" y="12700"/>
                  </a:lnTo>
                  <a:lnTo>
                    <a:pt x="7000875" y="12700"/>
                  </a:lnTo>
                  <a:lnTo>
                    <a:pt x="7000875" y="25400"/>
                  </a:lnTo>
                  <a:lnTo>
                    <a:pt x="12700" y="25400"/>
                  </a:lnTo>
                  <a:close/>
                </a:path>
              </a:pathLst>
            </a:custGeom>
            <a:solidFill>
              <a:srgbClr val="42719B"/>
            </a:solidFill>
            <a:ln w="12700">
              <a:solidFill>
                <a:srgbClr val="000000"/>
              </a:solidFill>
            </a:ln>
          </p:spPr>
          <p:txBody>
            <a:bodyPr/>
            <a:lstStyle/>
            <a:p>
              <a:endParaRPr lang="en-GH"/>
            </a:p>
          </p:txBody>
        </p:sp>
      </p:grpSp>
      <p:grpSp>
        <p:nvGrpSpPr>
          <p:cNvPr id="5" name="Group 5"/>
          <p:cNvGrpSpPr/>
          <p:nvPr/>
        </p:nvGrpSpPr>
        <p:grpSpPr>
          <a:xfrm>
            <a:off x="8079448" y="6349613"/>
            <a:ext cx="5068348" cy="2342250"/>
            <a:chOff x="0" y="0"/>
            <a:chExt cx="6757797" cy="3123000"/>
          </a:xfrm>
        </p:grpSpPr>
        <p:sp>
          <p:nvSpPr>
            <p:cNvPr id="6" name="Freeform 6"/>
            <p:cNvSpPr/>
            <p:nvPr/>
          </p:nvSpPr>
          <p:spPr>
            <a:xfrm>
              <a:off x="0" y="0"/>
              <a:ext cx="6757797" cy="3123051"/>
            </a:xfrm>
            <a:custGeom>
              <a:avLst/>
              <a:gdLst/>
              <a:ahLst/>
              <a:cxnLst/>
              <a:rect l="l" t="t" r="r" b="b"/>
              <a:pathLst>
                <a:path w="6757797" h="3123051">
                  <a:moveTo>
                    <a:pt x="0" y="0"/>
                  </a:moveTo>
                  <a:lnTo>
                    <a:pt x="6757797" y="0"/>
                  </a:lnTo>
                  <a:lnTo>
                    <a:pt x="6757797" y="3123051"/>
                  </a:lnTo>
                  <a:lnTo>
                    <a:pt x="0" y="3123051"/>
                  </a:lnTo>
                  <a:close/>
                </a:path>
              </a:pathLst>
            </a:custGeom>
            <a:blipFill>
              <a:blip r:embed="rId3">
                <a:alphaModFix amt="71760"/>
              </a:blip>
              <a:stretch>
                <a:fillRect t="-8964" b="-8964"/>
              </a:stretch>
            </a:blipFill>
          </p:spPr>
          <p:txBody>
            <a:bodyPr/>
            <a:lstStyle/>
            <a:p>
              <a:endParaRPr lang="en-GH"/>
            </a:p>
          </p:txBody>
        </p:sp>
        <p:sp>
          <p:nvSpPr>
            <p:cNvPr id="7" name="TextBox 7"/>
            <p:cNvSpPr txBox="1"/>
            <p:nvPr/>
          </p:nvSpPr>
          <p:spPr>
            <a:xfrm>
              <a:off x="0" y="-38100"/>
              <a:ext cx="6757797" cy="3161100"/>
            </a:xfrm>
            <a:prstGeom prst="rect">
              <a:avLst/>
            </a:prstGeom>
          </p:spPr>
          <p:txBody>
            <a:bodyPr lIns="50800" tIns="50800" rIns="50800" bIns="50800" rtlCol="0" anchor="t"/>
            <a:lstStyle/>
            <a:p>
              <a:pPr algn="l">
                <a:lnSpc>
                  <a:spcPts val="2160"/>
                </a:lnSpc>
              </a:pPr>
              <a:endParaRPr/>
            </a:p>
          </p:txBody>
        </p:sp>
      </p:grpSp>
      <p:grpSp>
        <p:nvGrpSpPr>
          <p:cNvPr id="8" name="Group 8"/>
          <p:cNvGrpSpPr/>
          <p:nvPr/>
        </p:nvGrpSpPr>
        <p:grpSpPr>
          <a:xfrm>
            <a:off x="597293" y="2102644"/>
            <a:ext cx="3703207" cy="6857190"/>
            <a:chOff x="0" y="0"/>
            <a:chExt cx="4937609" cy="9142920"/>
          </a:xfrm>
        </p:grpSpPr>
        <p:sp>
          <p:nvSpPr>
            <p:cNvPr id="9" name="Freeform 9"/>
            <p:cNvSpPr/>
            <p:nvPr/>
          </p:nvSpPr>
          <p:spPr>
            <a:xfrm>
              <a:off x="0" y="0"/>
              <a:ext cx="4937595" cy="9142971"/>
            </a:xfrm>
            <a:custGeom>
              <a:avLst/>
              <a:gdLst/>
              <a:ahLst/>
              <a:cxnLst/>
              <a:rect l="l" t="t" r="r" b="b"/>
              <a:pathLst>
                <a:path w="4937595" h="9142971">
                  <a:moveTo>
                    <a:pt x="13877" y="0"/>
                  </a:moveTo>
                  <a:lnTo>
                    <a:pt x="4923718" y="0"/>
                  </a:lnTo>
                  <a:cubicBezTo>
                    <a:pt x="4931350" y="0"/>
                    <a:pt x="4937595" y="15534"/>
                    <a:pt x="4937595" y="34519"/>
                  </a:cubicBezTo>
                  <a:lnTo>
                    <a:pt x="4937595" y="9108539"/>
                  </a:lnTo>
                  <a:cubicBezTo>
                    <a:pt x="4937595" y="9127524"/>
                    <a:pt x="4931350" y="9142971"/>
                    <a:pt x="4923718" y="9142971"/>
                  </a:cubicBezTo>
                  <a:lnTo>
                    <a:pt x="13877" y="9142971"/>
                  </a:lnTo>
                  <a:cubicBezTo>
                    <a:pt x="6245" y="9142971"/>
                    <a:pt x="0" y="9127524"/>
                    <a:pt x="0" y="9108539"/>
                  </a:cubicBezTo>
                  <a:lnTo>
                    <a:pt x="0" y="34519"/>
                  </a:lnTo>
                  <a:cubicBezTo>
                    <a:pt x="0" y="15534"/>
                    <a:pt x="6245" y="0"/>
                    <a:pt x="13877" y="0"/>
                  </a:cubicBezTo>
                  <a:moveTo>
                    <a:pt x="13877" y="69038"/>
                  </a:moveTo>
                  <a:lnTo>
                    <a:pt x="13877" y="34519"/>
                  </a:lnTo>
                  <a:lnTo>
                    <a:pt x="27754" y="34519"/>
                  </a:lnTo>
                  <a:lnTo>
                    <a:pt x="27754" y="9108539"/>
                  </a:lnTo>
                  <a:lnTo>
                    <a:pt x="13877" y="9108539"/>
                  </a:lnTo>
                  <a:lnTo>
                    <a:pt x="13877" y="9074021"/>
                  </a:lnTo>
                  <a:lnTo>
                    <a:pt x="4923718" y="9074021"/>
                  </a:lnTo>
                  <a:lnTo>
                    <a:pt x="4923718" y="9108539"/>
                  </a:lnTo>
                  <a:lnTo>
                    <a:pt x="4909841" y="9108539"/>
                  </a:lnTo>
                  <a:lnTo>
                    <a:pt x="4909841" y="34519"/>
                  </a:lnTo>
                  <a:lnTo>
                    <a:pt x="4923718" y="34519"/>
                  </a:lnTo>
                  <a:lnTo>
                    <a:pt x="4923718" y="69038"/>
                  </a:lnTo>
                  <a:lnTo>
                    <a:pt x="13877" y="69038"/>
                  </a:lnTo>
                  <a:close/>
                </a:path>
              </a:pathLst>
            </a:custGeom>
            <a:solidFill>
              <a:srgbClr val="42719B"/>
            </a:solidFill>
            <a:ln w="12700">
              <a:solidFill>
                <a:srgbClr val="000000"/>
              </a:solidFill>
            </a:ln>
          </p:spPr>
          <p:txBody>
            <a:bodyPr/>
            <a:lstStyle/>
            <a:p>
              <a:endParaRPr lang="en-GH"/>
            </a:p>
          </p:txBody>
        </p:sp>
      </p:grpSp>
      <p:grpSp>
        <p:nvGrpSpPr>
          <p:cNvPr id="10" name="Group 10"/>
          <p:cNvGrpSpPr/>
          <p:nvPr/>
        </p:nvGrpSpPr>
        <p:grpSpPr>
          <a:xfrm>
            <a:off x="4468616" y="2102644"/>
            <a:ext cx="3389100" cy="6857038"/>
            <a:chOff x="0" y="0"/>
            <a:chExt cx="4518800" cy="9142717"/>
          </a:xfrm>
        </p:grpSpPr>
        <p:sp>
          <p:nvSpPr>
            <p:cNvPr id="11" name="Freeform 11"/>
            <p:cNvSpPr/>
            <p:nvPr/>
          </p:nvSpPr>
          <p:spPr>
            <a:xfrm>
              <a:off x="0" y="0"/>
              <a:ext cx="4518787" cy="9142768"/>
            </a:xfrm>
            <a:custGeom>
              <a:avLst/>
              <a:gdLst/>
              <a:ahLst/>
              <a:cxnLst/>
              <a:rect l="l" t="t" r="r" b="b"/>
              <a:pathLst>
                <a:path w="4518787" h="9142768">
                  <a:moveTo>
                    <a:pt x="12700" y="0"/>
                  </a:moveTo>
                  <a:lnTo>
                    <a:pt x="4506087" y="0"/>
                  </a:lnTo>
                  <a:cubicBezTo>
                    <a:pt x="4513072" y="0"/>
                    <a:pt x="4518787" y="15533"/>
                    <a:pt x="4518787" y="34518"/>
                  </a:cubicBezTo>
                  <a:lnTo>
                    <a:pt x="4518787" y="9108337"/>
                  </a:lnTo>
                  <a:cubicBezTo>
                    <a:pt x="4518787" y="9127321"/>
                    <a:pt x="4513072" y="9142768"/>
                    <a:pt x="4506087" y="9142768"/>
                  </a:cubicBezTo>
                  <a:lnTo>
                    <a:pt x="12700" y="9142768"/>
                  </a:lnTo>
                  <a:cubicBezTo>
                    <a:pt x="5715" y="9142768"/>
                    <a:pt x="0" y="9127321"/>
                    <a:pt x="0" y="9108337"/>
                  </a:cubicBezTo>
                  <a:lnTo>
                    <a:pt x="0" y="34518"/>
                  </a:lnTo>
                  <a:cubicBezTo>
                    <a:pt x="0" y="15533"/>
                    <a:pt x="5715" y="0"/>
                    <a:pt x="12700" y="0"/>
                  </a:cubicBezTo>
                  <a:moveTo>
                    <a:pt x="12700" y="69037"/>
                  </a:moveTo>
                  <a:lnTo>
                    <a:pt x="12700" y="34518"/>
                  </a:lnTo>
                  <a:lnTo>
                    <a:pt x="25400" y="34518"/>
                  </a:lnTo>
                  <a:lnTo>
                    <a:pt x="25400" y="9108337"/>
                  </a:lnTo>
                  <a:lnTo>
                    <a:pt x="12700" y="9108337"/>
                  </a:lnTo>
                  <a:lnTo>
                    <a:pt x="12700" y="9073819"/>
                  </a:lnTo>
                  <a:lnTo>
                    <a:pt x="4506087" y="9073819"/>
                  </a:lnTo>
                  <a:lnTo>
                    <a:pt x="4506087" y="9108337"/>
                  </a:lnTo>
                  <a:lnTo>
                    <a:pt x="4493387" y="9108337"/>
                  </a:lnTo>
                  <a:lnTo>
                    <a:pt x="4493387" y="34518"/>
                  </a:lnTo>
                  <a:lnTo>
                    <a:pt x="4506087" y="34518"/>
                  </a:lnTo>
                  <a:lnTo>
                    <a:pt x="4506087" y="69037"/>
                  </a:lnTo>
                  <a:lnTo>
                    <a:pt x="12700" y="69037"/>
                  </a:lnTo>
                  <a:close/>
                </a:path>
              </a:pathLst>
            </a:custGeom>
            <a:solidFill>
              <a:srgbClr val="42719B"/>
            </a:solidFill>
            <a:ln w="12700">
              <a:solidFill>
                <a:srgbClr val="000000"/>
              </a:solidFill>
            </a:ln>
          </p:spPr>
          <p:txBody>
            <a:bodyPr/>
            <a:lstStyle/>
            <a:p>
              <a:endParaRPr lang="en-GH"/>
            </a:p>
          </p:txBody>
        </p:sp>
      </p:grpSp>
      <p:grpSp>
        <p:nvGrpSpPr>
          <p:cNvPr id="12" name="Group 12"/>
          <p:cNvGrpSpPr/>
          <p:nvPr/>
        </p:nvGrpSpPr>
        <p:grpSpPr>
          <a:xfrm>
            <a:off x="13505078" y="1718681"/>
            <a:ext cx="3735829" cy="7337813"/>
            <a:chOff x="0" y="0"/>
            <a:chExt cx="4981105" cy="9783751"/>
          </a:xfrm>
        </p:grpSpPr>
        <p:sp>
          <p:nvSpPr>
            <p:cNvPr id="13" name="Freeform 13"/>
            <p:cNvSpPr/>
            <p:nvPr/>
          </p:nvSpPr>
          <p:spPr>
            <a:xfrm>
              <a:off x="0" y="0"/>
              <a:ext cx="4981091" cy="9783802"/>
            </a:xfrm>
            <a:custGeom>
              <a:avLst/>
              <a:gdLst/>
              <a:ahLst/>
              <a:cxnLst/>
              <a:rect l="l" t="t" r="r" b="b"/>
              <a:pathLst>
                <a:path w="4981091" h="9783802">
                  <a:moveTo>
                    <a:pt x="13999" y="0"/>
                  </a:moveTo>
                  <a:lnTo>
                    <a:pt x="4967092" y="0"/>
                  </a:lnTo>
                  <a:cubicBezTo>
                    <a:pt x="4974791" y="0"/>
                    <a:pt x="4981091" y="16622"/>
                    <a:pt x="4981091" y="36938"/>
                  </a:cubicBezTo>
                  <a:lnTo>
                    <a:pt x="4981091" y="9746960"/>
                  </a:lnTo>
                  <a:cubicBezTo>
                    <a:pt x="4981091" y="9767276"/>
                    <a:pt x="4974791" y="9783802"/>
                    <a:pt x="4967092" y="9783802"/>
                  </a:cubicBezTo>
                  <a:lnTo>
                    <a:pt x="13999" y="9783802"/>
                  </a:lnTo>
                  <a:cubicBezTo>
                    <a:pt x="6300" y="9783802"/>
                    <a:pt x="0" y="9767276"/>
                    <a:pt x="0" y="9746960"/>
                  </a:cubicBezTo>
                  <a:lnTo>
                    <a:pt x="0" y="36938"/>
                  </a:lnTo>
                  <a:cubicBezTo>
                    <a:pt x="0" y="16622"/>
                    <a:pt x="6300" y="0"/>
                    <a:pt x="13999" y="0"/>
                  </a:cubicBezTo>
                  <a:moveTo>
                    <a:pt x="13999" y="73877"/>
                  </a:moveTo>
                  <a:lnTo>
                    <a:pt x="13999" y="36938"/>
                  </a:lnTo>
                  <a:lnTo>
                    <a:pt x="27999" y="36938"/>
                  </a:lnTo>
                  <a:lnTo>
                    <a:pt x="27999" y="9746960"/>
                  </a:lnTo>
                  <a:lnTo>
                    <a:pt x="13999" y="9746960"/>
                  </a:lnTo>
                  <a:lnTo>
                    <a:pt x="13999" y="9710022"/>
                  </a:lnTo>
                  <a:lnTo>
                    <a:pt x="4967092" y="9710022"/>
                  </a:lnTo>
                  <a:lnTo>
                    <a:pt x="4967092" y="9746960"/>
                  </a:lnTo>
                  <a:lnTo>
                    <a:pt x="4953093" y="9746960"/>
                  </a:lnTo>
                  <a:lnTo>
                    <a:pt x="4953093" y="36938"/>
                  </a:lnTo>
                  <a:lnTo>
                    <a:pt x="4967092" y="36938"/>
                  </a:lnTo>
                  <a:lnTo>
                    <a:pt x="4967092" y="73877"/>
                  </a:lnTo>
                  <a:lnTo>
                    <a:pt x="13999" y="73877"/>
                  </a:lnTo>
                  <a:close/>
                </a:path>
              </a:pathLst>
            </a:custGeom>
            <a:solidFill>
              <a:srgbClr val="42719B"/>
            </a:solidFill>
            <a:ln w="12700">
              <a:solidFill>
                <a:srgbClr val="000000"/>
              </a:solidFill>
            </a:ln>
          </p:spPr>
          <p:txBody>
            <a:bodyPr/>
            <a:lstStyle/>
            <a:p>
              <a:endParaRPr lang="en-GH"/>
            </a:p>
          </p:txBody>
        </p:sp>
      </p:grpSp>
      <p:grpSp>
        <p:nvGrpSpPr>
          <p:cNvPr id="14" name="Group 14"/>
          <p:cNvGrpSpPr/>
          <p:nvPr/>
        </p:nvGrpSpPr>
        <p:grpSpPr>
          <a:xfrm>
            <a:off x="0" y="823912"/>
            <a:ext cx="17040225" cy="1278731"/>
            <a:chOff x="0" y="0"/>
            <a:chExt cx="22720300" cy="1704975"/>
          </a:xfrm>
        </p:grpSpPr>
        <p:sp>
          <p:nvSpPr>
            <p:cNvPr id="15" name="Freeform 15"/>
            <p:cNvSpPr/>
            <p:nvPr/>
          </p:nvSpPr>
          <p:spPr>
            <a:xfrm>
              <a:off x="0" y="0"/>
              <a:ext cx="22720300" cy="1704976"/>
            </a:xfrm>
            <a:custGeom>
              <a:avLst/>
              <a:gdLst/>
              <a:ahLst/>
              <a:cxnLst/>
              <a:rect l="l" t="t" r="r" b="b"/>
              <a:pathLst>
                <a:path w="22720300" h="1704976">
                  <a:moveTo>
                    <a:pt x="0" y="0"/>
                  </a:moveTo>
                  <a:lnTo>
                    <a:pt x="22720300" y="0"/>
                  </a:lnTo>
                  <a:lnTo>
                    <a:pt x="22720300" y="1704976"/>
                  </a:lnTo>
                  <a:lnTo>
                    <a:pt x="0" y="1704976"/>
                  </a:lnTo>
                  <a:close/>
                </a:path>
              </a:pathLst>
            </a:custGeom>
            <a:solidFill>
              <a:srgbClr val="000000">
                <a:alpha val="0"/>
              </a:srgbClr>
            </a:solidFill>
            <a:ln w="12700">
              <a:solidFill>
                <a:srgbClr val="000000"/>
              </a:solidFill>
            </a:ln>
          </p:spPr>
          <p:txBody>
            <a:bodyPr/>
            <a:lstStyle/>
            <a:p>
              <a:endParaRPr lang="en-GH"/>
            </a:p>
          </p:txBody>
        </p:sp>
        <p:sp>
          <p:nvSpPr>
            <p:cNvPr id="16" name="TextBox 16"/>
            <p:cNvSpPr txBox="1"/>
            <p:nvPr/>
          </p:nvSpPr>
          <p:spPr>
            <a:xfrm>
              <a:off x="0" y="-66675"/>
              <a:ext cx="22720300" cy="1771650"/>
            </a:xfrm>
            <a:prstGeom prst="rect">
              <a:avLst/>
            </a:prstGeom>
          </p:spPr>
          <p:txBody>
            <a:bodyPr lIns="0" tIns="0" rIns="0" bIns="0" rtlCol="0" anchor="ctr"/>
            <a:lstStyle/>
            <a:p>
              <a:pPr algn="l">
                <a:lnSpc>
                  <a:spcPts val="7128"/>
                </a:lnSpc>
              </a:pPr>
              <a:r>
                <a:rPr lang="en-US" sz="6600">
                  <a:solidFill>
                    <a:srgbClr val="000000"/>
                  </a:solidFill>
                  <a:latin typeface="Calibri (MS)"/>
                  <a:ea typeface="Calibri (MS)"/>
                  <a:cs typeface="Calibri (MS)"/>
                  <a:sym typeface="Calibri (MS)"/>
                </a:rPr>
                <a:t>Project Title</a:t>
              </a:r>
            </a:p>
          </p:txBody>
        </p:sp>
      </p:grpSp>
      <p:grpSp>
        <p:nvGrpSpPr>
          <p:cNvPr id="17" name="Group 17"/>
          <p:cNvGrpSpPr/>
          <p:nvPr/>
        </p:nvGrpSpPr>
        <p:grpSpPr>
          <a:xfrm>
            <a:off x="7992618" y="1232602"/>
            <a:ext cx="5111210" cy="4819612"/>
            <a:chOff x="0" y="0"/>
            <a:chExt cx="6814947" cy="6426149"/>
          </a:xfrm>
        </p:grpSpPr>
        <p:sp>
          <p:nvSpPr>
            <p:cNvPr id="18" name="Freeform 18"/>
            <p:cNvSpPr/>
            <p:nvPr/>
          </p:nvSpPr>
          <p:spPr>
            <a:xfrm>
              <a:off x="0" y="0"/>
              <a:ext cx="6814947" cy="6426200"/>
            </a:xfrm>
            <a:custGeom>
              <a:avLst/>
              <a:gdLst/>
              <a:ahLst/>
              <a:cxnLst/>
              <a:rect l="l" t="t" r="r" b="b"/>
              <a:pathLst>
                <a:path w="6814947" h="6426200">
                  <a:moveTo>
                    <a:pt x="0" y="1090041"/>
                  </a:moveTo>
                  <a:cubicBezTo>
                    <a:pt x="0" y="488061"/>
                    <a:pt x="488315" y="0"/>
                    <a:pt x="1090676" y="0"/>
                  </a:cubicBezTo>
                  <a:lnTo>
                    <a:pt x="5724271" y="0"/>
                  </a:lnTo>
                  <a:lnTo>
                    <a:pt x="5724271" y="28575"/>
                  </a:lnTo>
                  <a:lnTo>
                    <a:pt x="5724271" y="0"/>
                  </a:lnTo>
                  <a:cubicBezTo>
                    <a:pt x="6326632" y="0"/>
                    <a:pt x="6814947" y="488061"/>
                    <a:pt x="6814947" y="1090041"/>
                  </a:cubicBezTo>
                  <a:lnTo>
                    <a:pt x="6786372" y="1090041"/>
                  </a:lnTo>
                  <a:lnTo>
                    <a:pt x="6814947" y="1090041"/>
                  </a:lnTo>
                  <a:lnTo>
                    <a:pt x="6814947" y="5336032"/>
                  </a:lnTo>
                  <a:lnTo>
                    <a:pt x="6786372" y="5336032"/>
                  </a:lnTo>
                  <a:lnTo>
                    <a:pt x="6814947" y="5336032"/>
                  </a:lnTo>
                  <a:cubicBezTo>
                    <a:pt x="6814947" y="5938139"/>
                    <a:pt x="6326632" y="6426073"/>
                    <a:pt x="5724271" y="6426073"/>
                  </a:cubicBezTo>
                  <a:lnTo>
                    <a:pt x="5724271" y="6397498"/>
                  </a:lnTo>
                  <a:lnTo>
                    <a:pt x="5724271" y="6426200"/>
                  </a:lnTo>
                  <a:lnTo>
                    <a:pt x="1090676" y="6426200"/>
                  </a:lnTo>
                  <a:lnTo>
                    <a:pt x="1090676" y="6397625"/>
                  </a:lnTo>
                  <a:lnTo>
                    <a:pt x="1090676" y="6426200"/>
                  </a:lnTo>
                  <a:cubicBezTo>
                    <a:pt x="488315" y="6426200"/>
                    <a:pt x="0" y="5938139"/>
                    <a:pt x="0" y="5336032"/>
                  </a:cubicBezTo>
                  <a:lnTo>
                    <a:pt x="0" y="1090041"/>
                  </a:lnTo>
                  <a:lnTo>
                    <a:pt x="28575" y="1090041"/>
                  </a:lnTo>
                  <a:lnTo>
                    <a:pt x="0" y="1090041"/>
                  </a:lnTo>
                  <a:moveTo>
                    <a:pt x="57150" y="1090041"/>
                  </a:moveTo>
                  <a:lnTo>
                    <a:pt x="57150" y="5336032"/>
                  </a:lnTo>
                  <a:lnTo>
                    <a:pt x="28575" y="5336032"/>
                  </a:lnTo>
                  <a:lnTo>
                    <a:pt x="57150" y="5336032"/>
                  </a:lnTo>
                  <a:cubicBezTo>
                    <a:pt x="57150" y="5906516"/>
                    <a:pt x="519811" y="6368923"/>
                    <a:pt x="1090676" y="6368923"/>
                  </a:cubicBezTo>
                  <a:lnTo>
                    <a:pt x="5724271" y="6368923"/>
                  </a:lnTo>
                  <a:cubicBezTo>
                    <a:pt x="6295009" y="6368923"/>
                    <a:pt x="6757797" y="5906389"/>
                    <a:pt x="6757797" y="5336032"/>
                  </a:cubicBezTo>
                  <a:lnTo>
                    <a:pt x="6757797" y="1090041"/>
                  </a:lnTo>
                  <a:cubicBezTo>
                    <a:pt x="6757797" y="519557"/>
                    <a:pt x="6295136" y="57150"/>
                    <a:pt x="5724271" y="57150"/>
                  </a:cubicBezTo>
                  <a:lnTo>
                    <a:pt x="1090676" y="57150"/>
                  </a:lnTo>
                  <a:lnTo>
                    <a:pt x="1090676" y="28575"/>
                  </a:lnTo>
                  <a:lnTo>
                    <a:pt x="1090676" y="57150"/>
                  </a:lnTo>
                  <a:cubicBezTo>
                    <a:pt x="519811" y="57150"/>
                    <a:pt x="57150" y="519684"/>
                    <a:pt x="57150" y="1090041"/>
                  </a:cubicBezTo>
                  <a:close/>
                </a:path>
              </a:pathLst>
            </a:custGeom>
            <a:solidFill>
              <a:srgbClr val="42719B"/>
            </a:solidFill>
            <a:ln w="12700">
              <a:solidFill>
                <a:srgbClr val="000000"/>
              </a:solidFill>
            </a:ln>
          </p:spPr>
          <p:txBody>
            <a:bodyPr/>
            <a:lstStyle/>
            <a:p>
              <a:endParaRPr lang="en-GH"/>
            </a:p>
          </p:txBody>
        </p:sp>
      </p:grpSp>
      <p:sp>
        <p:nvSpPr>
          <p:cNvPr id="19" name="Freeform 19"/>
          <p:cNvSpPr/>
          <p:nvPr/>
        </p:nvSpPr>
        <p:spPr>
          <a:xfrm>
            <a:off x="8127560" y="1510370"/>
            <a:ext cx="4841325" cy="2299630"/>
          </a:xfrm>
          <a:custGeom>
            <a:avLst/>
            <a:gdLst/>
            <a:ahLst/>
            <a:cxnLst/>
            <a:rect l="l" t="t" r="r" b="b"/>
            <a:pathLst>
              <a:path w="4841325" h="2299630">
                <a:moveTo>
                  <a:pt x="0" y="0"/>
                </a:moveTo>
                <a:lnTo>
                  <a:pt x="4841326" y="0"/>
                </a:lnTo>
                <a:lnTo>
                  <a:pt x="4841326" y="2299630"/>
                </a:lnTo>
                <a:lnTo>
                  <a:pt x="0" y="2299630"/>
                </a:lnTo>
                <a:lnTo>
                  <a:pt x="0" y="0"/>
                </a:lnTo>
                <a:close/>
              </a:path>
            </a:pathLst>
          </a:custGeom>
          <a:blipFill>
            <a:blip r:embed="rId4"/>
            <a:stretch>
              <a:fillRect/>
            </a:stretch>
          </a:blipFill>
        </p:spPr>
        <p:txBody>
          <a:bodyPr/>
          <a:lstStyle/>
          <a:p>
            <a:endParaRPr lang="en-GH"/>
          </a:p>
        </p:txBody>
      </p:sp>
      <p:sp>
        <p:nvSpPr>
          <p:cNvPr id="20" name="Freeform 20"/>
          <p:cNvSpPr/>
          <p:nvPr/>
        </p:nvSpPr>
        <p:spPr>
          <a:xfrm>
            <a:off x="8520112" y="3909108"/>
            <a:ext cx="4019807" cy="2110399"/>
          </a:xfrm>
          <a:custGeom>
            <a:avLst/>
            <a:gdLst/>
            <a:ahLst/>
            <a:cxnLst/>
            <a:rect l="l" t="t" r="r" b="b"/>
            <a:pathLst>
              <a:path w="4019807" h="2110399">
                <a:moveTo>
                  <a:pt x="0" y="0"/>
                </a:moveTo>
                <a:lnTo>
                  <a:pt x="4019808" y="0"/>
                </a:lnTo>
                <a:lnTo>
                  <a:pt x="4019808" y="2110399"/>
                </a:lnTo>
                <a:lnTo>
                  <a:pt x="0" y="2110399"/>
                </a:lnTo>
                <a:lnTo>
                  <a:pt x="0" y="0"/>
                </a:lnTo>
                <a:close/>
              </a:path>
            </a:pathLst>
          </a:custGeom>
          <a:blipFill>
            <a:blip r:embed="rId5"/>
            <a:stretch>
              <a:fillRect/>
            </a:stretch>
          </a:blipFill>
        </p:spPr>
        <p:txBody>
          <a:bodyPr/>
          <a:lstStyle/>
          <a:p>
            <a:endParaRPr lang="en-GH"/>
          </a:p>
        </p:txBody>
      </p:sp>
      <p:sp>
        <p:nvSpPr>
          <p:cNvPr id="21" name="TextBox 21"/>
          <p:cNvSpPr txBox="1"/>
          <p:nvPr/>
        </p:nvSpPr>
        <p:spPr>
          <a:xfrm>
            <a:off x="932473" y="2222104"/>
            <a:ext cx="3032846" cy="1905000"/>
          </a:xfrm>
          <a:prstGeom prst="rect">
            <a:avLst/>
          </a:prstGeom>
        </p:spPr>
        <p:txBody>
          <a:bodyPr lIns="0" tIns="0" rIns="0" bIns="0" rtlCol="0" anchor="t">
            <a:spAutoFit/>
          </a:bodyPr>
          <a:lstStyle/>
          <a:p>
            <a:pPr algn="l">
              <a:lnSpc>
                <a:spcPts val="2160"/>
              </a:lnSpc>
            </a:pPr>
            <a:r>
              <a:rPr lang="en-US" sz="1800" b="1">
                <a:solidFill>
                  <a:srgbClr val="000000"/>
                </a:solidFill>
                <a:latin typeface="Calibri (MS) Bold"/>
                <a:ea typeface="Calibri (MS) Bold"/>
                <a:cs typeface="Calibri (MS) Bold"/>
                <a:sym typeface="Calibri (MS) Bold"/>
              </a:rPr>
              <a:t>Jean (Smallholder Farmer)</a:t>
            </a:r>
          </a:p>
          <a:p>
            <a:pPr algn="l">
              <a:lnSpc>
                <a:spcPts val="2160"/>
              </a:lnSpc>
            </a:pPr>
            <a:r>
              <a:rPr lang="en-US" sz="1800" b="1">
                <a:solidFill>
                  <a:srgbClr val="000000"/>
                </a:solidFill>
                <a:latin typeface="Calibri (MS) Bold"/>
                <a:ea typeface="Calibri (MS) Bold"/>
                <a:cs typeface="Calibri (MS) Bold"/>
                <a:sym typeface="Calibri (MS) Bold"/>
              </a:rPr>
              <a:t>Age: 42</a:t>
            </a:r>
          </a:p>
          <a:p>
            <a:pPr algn="l">
              <a:lnSpc>
                <a:spcPts val="2160"/>
              </a:lnSpc>
            </a:pPr>
            <a:r>
              <a:rPr lang="en-US" sz="1800">
                <a:solidFill>
                  <a:srgbClr val="000000"/>
                </a:solidFill>
                <a:latin typeface="Calibri (MS)"/>
                <a:ea typeface="Calibri (MS)"/>
                <a:cs typeface="Calibri (MS)"/>
                <a:sym typeface="Calibri (MS)"/>
              </a:rPr>
              <a:t>Owns a small farm producing vegetables and fruits. He wants fair prices, reliable buyers, and simple digital tools to sell his produce without middlemen</a:t>
            </a:r>
          </a:p>
        </p:txBody>
      </p:sp>
      <p:sp>
        <p:nvSpPr>
          <p:cNvPr id="22" name="TextBox 22"/>
          <p:cNvSpPr txBox="1"/>
          <p:nvPr/>
        </p:nvSpPr>
        <p:spPr>
          <a:xfrm>
            <a:off x="4646514" y="2222104"/>
            <a:ext cx="3033303" cy="304800"/>
          </a:xfrm>
          <a:prstGeom prst="rect">
            <a:avLst/>
          </a:prstGeom>
        </p:spPr>
        <p:txBody>
          <a:bodyPr lIns="0" tIns="0" rIns="0" bIns="0" rtlCol="0" anchor="t">
            <a:spAutoFit/>
          </a:bodyPr>
          <a:lstStyle/>
          <a:p>
            <a:pPr algn="l">
              <a:lnSpc>
                <a:spcPts val="2160"/>
              </a:lnSpc>
            </a:pPr>
            <a:r>
              <a:rPr lang="en-US" sz="1800" b="1">
                <a:solidFill>
                  <a:srgbClr val="000000"/>
                </a:solidFill>
                <a:latin typeface="Calibri (MS) Bold"/>
                <a:ea typeface="Calibri (MS) Bold"/>
                <a:cs typeface="Calibri (MS) Bold"/>
                <a:sym typeface="Calibri (MS) Bold"/>
              </a:rPr>
              <a:t>PROBLEM:</a:t>
            </a:r>
          </a:p>
        </p:txBody>
      </p:sp>
      <p:sp>
        <p:nvSpPr>
          <p:cNvPr id="23" name="TextBox 23"/>
          <p:cNvSpPr txBox="1"/>
          <p:nvPr/>
        </p:nvSpPr>
        <p:spPr>
          <a:xfrm>
            <a:off x="13770578" y="2137458"/>
            <a:ext cx="3032846" cy="1371600"/>
          </a:xfrm>
          <a:prstGeom prst="rect">
            <a:avLst/>
          </a:prstGeom>
        </p:spPr>
        <p:txBody>
          <a:bodyPr lIns="0" tIns="0" rIns="0" bIns="0" rtlCol="0" anchor="t">
            <a:spAutoFit/>
          </a:bodyPr>
          <a:lstStyle/>
          <a:p>
            <a:pPr algn="l">
              <a:lnSpc>
                <a:spcPts val="2160"/>
              </a:lnSpc>
            </a:pPr>
            <a:r>
              <a:rPr lang="en-US" sz="1800" b="1">
                <a:solidFill>
                  <a:srgbClr val="000000"/>
                </a:solidFill>
                <a:latin typeface="Calibri (MS) Bold"/>
                <a:ea typeface="Calibri (MS) Bold"/>
                <a:cs typeface="Calibri (MS) Bold"/>
                <a:sym typeface="Calibri (MS) Bold"/>
              </a:rPr>
              <a:t>Farmers</a:t>
            </a:r>
            <a:r>
              <a:rPr lang="en-US" sz="1800">
                <a:solidFill>
                  <a:srgbClr val="000000"/>
                </a:solidFill>
                <a:latin typeface="Calibri (MS)"/>
                <a:ea typeface="Calibri (MS)"/>
                <a:cs typeface="Calibri (MS)"/>
                <a:sym typeface="Calibri (MS)"/>
              </a:rPr>
              <a:t> are better off because they can sell directly to buyers, manage inventory digitally, access market insights, and receive weather-based guidance</a:t>
            </a:r>
          </a:p>
        </p:txBody>
      </p:sp>
      <p:sp>
        <p:nvSpPr>
          <p:cNvPr id="24" name="TextBox 24"/>
          <p:cNvSpPr txBox="1"/>
          <p:nvPr/>
        </p:nvSpPr>
        <p:spPr>
          <a:xfrm>
            <a:off x="932473" y="4978013"/>
            <a:ext cx="3032846" cy="2705100"/>
          </a:xfrm>
          <a:prstGeom prst="rect">
            <a:avLst/>
          </a:prstGeom>
        </p:spPr>
        <p:txBody>
          <a:bodyPr lIns="0" tIns="0" rIns="0" bIns="0" rtlCol="0" anchor="t">
            <a:spAutoFit/>
          </a:bodyPr>
          <a:lstStyle/>
          <a:p>
            <a:pPr algn="l">
              <a:lnSpc>
                <a:spcPts val="2160"/>
              </a:lnSpc>
            </a:pPr>
            <a:r>
              <a:rPr lang="en-US" sz="1800" b="1">
                <a:solidFill>
                  <a:srgbClr val="000000"/>
                </a:solidFill>
                <a:latin typeface="Calibri (MS) Bold"/>
                <a:ea typeface="Calibri (MS) Bold"/>
                <a:cs typeface="Calibri (MS) Bold"/>
                <a:sym typeface="Calibri (MS) Bold"/>
              </a:rPr>
              <a:t>Aline (Buyer – Restaurant Owner)</a:t>
            </a:r>
          </a:p>
          <a:p>
            <a:pPr algn="l">
              <a:lnSpc>
                <a:spcPts val="2160"/>
              </a:lnSpc>
            </a:pPr>
            <a:r>
              <a:rPr lang="en-US" sz="1800" b="1">
                <a:solidFill>
                  <a:srgbClr val="000000"/>
                </a:solidFill>
                <a:latin typeface="Calibri (MS) Bold"/>
                <a:ea typeface="Calibri (MS) Bold"/>
                <a:cs typeface="Calibri (MS) Bold"/>
                <a:sym typeface="Calibri (MS) Bold"/>
              </a:rPr>
              <a:t>Age: 30</a:t>
            </a:r>
          </a:p>
          <a:p>
            <a:pPr algn="l">
              <a:lnSpc>
                <a:spcPts val="2160"/>
              </a:lnSpc>
            </a:pPr>
            <a:endParaRPr lang="en-US" sz="1800" b="1">
              <a:solidFill>
                <a:srgbClr val="000000"/>
              </a:solidFill>
              <a:latin typeface="Calibri (MS) Bold"/>
              <a:ea typeface="Calibri (MS) Bold"/>
              <a:cs typeface="Calibri (MS) Bold"/>
              <a:sym typeface="Calibri (MS) Bold"/>
            </a:endParaRPr>
          </a:p>
          <a:p>
            <a:pPr algn="just">
              <a:lnSpc>
                <a:spcPts val="2160"/>
              </a:lnSpc>
            </a:pPr>
            <a:r>
              <a:rPr lang="en-US" sz="1800">
                <a:solidFill>
                  <a:srgbClr val="000000"/>
                </a:solidFill>
                <a:latin typeface="Calibri (MS)"/>
                <a:ea typeface="Calibri (MS)"/>
                <a:cs typeface="Calibri (MS)"/>
                <a:sym typeface="Calibri (MS)"/>
              </a:rPr>
              <a:t>Runs a local restaurant and needs consistent access to fresh, organic produce. She values transparent pricing, quality assurance, and quick ordering</a:t>
            </a:r>
          </a:p>
        </p:txBody>
      </p:sp>
      <p:sp>
        <p:nvSpPr>
          <p:cNvPr id="25" name="TextBox 25"/>
          <p:cNvSpPr txBox="1"/>
          <p:nvPr/>
        </p:nvSpPr>
        <p:spPr>
          <a:xfrm>
            <a:off x="4629907" y="3070908"/>
            <a:ext cx="3033303" cy="838200"/>
          </a:xfrm>
          <a:prstGeom prst="rect">
            <a:avLst/>
          </a:prstGeom>
        </p:spPr>
        <p:txBody>
          <a:bodyPr lIns="0" tIns="0" rIns="0" bIns="0" rtlCol="0" anchor="t">
            <a:spAutoFit/>
          </a:bodyPr>
          <a:lstStyle/>
          <a:p>
            <a:pPr marL="388620" lvl="1" indent="-194310" algn="l">
              <a:lnSpc>
                <a:spcPts val="2160"/>
              </a:lnSpc>
              <a:buFont typeface="Arial"/>
              <a:buChar char="•"/>
            </a:pPr>
            <a:r>
              <a:rPr lang="en-US" sz="1800">
                <a:solidFill>
                  <a:srgbClr val="000000"/>
                </a:solidFill>
                <a:latin typeface="Calibri (MS)"/>
                <a:ea typeface="Calibri (MS)"/>
                <a:cs typeface="Calibri (MS)"/>
                <a:sym typeface="Calibri (MS)"/>
              </a:rPr>
              <a:t>armers struggle to access fair markets and real-time price information</a:t>
            </a:r>
          </a:p>
        </p:txBody>
      </p:sp>
      <p:sp>
        <p:nvSpPr>
          <p:cNvPr id="26" name="TextBox 26"/>
          <p:cNvSpPr txBox="1"/>
          <p:nvPr/>
        </p:nvSpPr>
        <p:spPr>
          <a:xfrm>
            <a:off x="4646514" y="4177913"/>
            <a:ext cx="3033303" cy="1104900"/>
          </a:xfrm>
          <a:prstGeom prst="rect">
            <a:avLst/>
          </a:prstGeom>
        </p:spPr>
        <p:txBody>
          <a:bodyPr lIns="0" tIns="0" rIns="0" bIns="0" rtlCol="0" anchor="t">
            <a:spAutoFit/>
          </a:bodyPr>
          <a:lstStyle/>
          <a:p>
            <a:pPr marL="388620" lvl="1" indent="-194310" algn="l">
              <a:lnSpc>
                <a:spcPts val="2160"/>
              </a:lnSpc>
              <a:buFont typeface="Arial"/>
              <a:buChar char="•"/>
            </a:pPr>
            <a:r>
              <a:rPr lang="en-US" sz="1800">
                <a:solidFill>
                  <a:srgbClr val="000000"/>
                </a:solidFill>
                <a:latin typeface="Calibri (MS)"/>
                <a:ea typeface="Calibri (MS)"/>
                <a:cs typeface="Calibri (MS)"/>
                <a:sym typeface="Calibri (MS)"/>
              </a:rPr>
              <a:t>Buyers face difficulty sourcing fresh produce directly from trusted farmers</a:t>
            </a:r>
          </a:p>
        </p:txBody>
      </p:sp>
      <p:sp>
        <p:nvSpPr>
          <p:cNvPr id="27" name="TextBox 27"/>
          <p:cNvSpPr txBox="1"/>
          <p:nvPr/>
        </p:nvSpPr>
        <p:spPr>
          <a:xfrm>
            <a:off x="4646514" y="5349488"/>
            <a:ext cx="3033303" cy="838200"/>
          </a:xfrm>
          <a:prstGeom prst="rect">
            <a:avLst/>
          </a:prstGeom>
        </p:spPr>
        <p:txBody>
          <a:bodyPr lIns="0" tIns="0" rIns="0" bIns="0" rtlCol="0" anchor="t">
            <a:spAutoFit/>
          </a:bodyPr>
          <a:lstStyle/>
          <a:p>
            <a:pPr marL="388620" lvl="1" indent="-194310" algn="l">
              <a:lnSpc>
                <a:spcPts val="2160"/>
              </a:lnSpc>
              <a:buFont typeface="Arial"/>
              <a:buChar char="•"/>
            </a:pPr>
            <a:r>
              <a:rPr lang="en-US" sz="1800">
                <a:solidFill>
                  <a:srgbClr val="000000"/>
                </a:solidFill>
                <a:latin typeface="Calibri (MS)"/>
                <a:ea typeface="Calibri (MS)"/>
                <a:cs typeface="Calibri (MS)"/>
                <a:sym typeface="Calibri (MS)"/>
              </a:rPr>
              <a:t>Middlemen reduce farmer profits and increase buyer costs</a:t>
            </a:r>
          </a:p>
        </p:txBody>
      </p:sp>
      <p:sp>
        <p:nvSpPr>
          <p:cNvPr id="28" name="TextBox 28"/>
          <p:cNvSpPr txBox="1"/>
          <p:nvPr/>
        </p:nvSpPr>
        <p:spPr>
          <a:xfrm>
            <a:off x="4646500" y="6254363"/>
            <a:ext cx="3033303" cy="1104900"/>
          </a:xfrm>
          <a:prstGeom prst="rect">
            <a:avLst/>
          </a:prstGeom>
        </p:spPr>
        <p:txBody>
          <a:bodyPr lIns="0" tIns="0" rIns="0" bIns="0" rtlCol="0" anchor="t">
            <a:spAutoFit/>
          </a:bodyPr>
          <a:lstStyle/>
          <a:p>
            <a:pPr marL="388620" lvl="1" indent="-194310" algn="l">
              <a:lnSpc>
                <a:spcPts val="2160"/>
              </a:lnSpc>
              <a:buFont typeface="Arial"/>
              <a:buChar char="•"/>
            </a:pPr>
            <a:r>
              <a:rPr lang="en-US" sz="1800">
                <a:solidFill>
                  <a:srgbClr val="000000"/>
                </a:solidFill>
                <a:latin typeface="Calibri (MS)"/>
                <a:ea typeface="Calibri (MS)"/>
                <a:cs typeface="Calibri (MS)"/>
                <a:sym typeface="Calibri (MS)"/>
              </a:rPr>
              <a:t>Limited access to advisory services and localized weather insights affects productivity</a:t>
            </a:r>
          </a:p>
        </p:txBody>
      </p:sp>
      <p:sp>
        <p:nvSpPr>
          <p:cNvPr id="29" name="TextBox 29"/>
          <p:cNvSpPr txBox="1"/>
          <p:nvPr/>
        </p:nvSpPr>
        <p:spPr>
          <a:xfrm>
            <a:off x="13789628" y="3771900"/>
            <a:ext cx="3032846" cy="1371600"/>
          </a:xfrm>
          <a:prstGeom prst="rect">
            <a:avLst/>
          </a:prstGeom>
        </p:spPr>
        <p:txBody>
          <a:bodyPr lIns="0" tIns="0" rIns="0" bIns="0" rtlCol="0" anchor="t">
            <a:spAutoFit/>
          </a:bodyPr>
          <a:lstStyle/>
          <a:p>
            <a:pPr algn="l">
              <a:lnSpc>
                <a:spcPts val="2160"/>
              </a:lnSpc>
            </a:pPr>
            <a:r>
              <a:rPr lang="en-US" sz="1800" b="1">
                <a:solidFill>
                  <a:srgbClr val="000000"/>
                </a:solidFill>
                <a:latin typeface="Calibri (MS) Bold"/>
                <a:ea typeface="Calibri (MS) Bold"/>
                <a:cs typeface="Calibri (MS) Bold"/>
                <a:sym typeface="Calibri (MS) Bold"/>
              </a:rPr>
              <a:t>Buyers</a:t>
            </a:r>
            <a:r>
              <a:rPr lang="en-US" sz="1800">
                <a:solidFill>
                  <a:srgbClr val="000000"/>
                </a:solidFill>
                <a:latin typeface="Calibri (MS)"/>
                <a:ea typeface="Calibri (MS)"/>
                <a:cs typeface="Calibri (MS)"/>
                <a:sym typeface="Calibri (MS)"/>
              </a:rPr>
              <a:t> are better off because they gain reliable access to fresh produce, transparent pricing, verified sellers, and efficient ordering</a:t>
            </a:r>
          </a:p>
        </p:txBody>
      </p:sp>
      <p:sp>
        <p:nvSpPr>
          <p:cNvPr id="30" name="TextBox 30"/>
          <p:cNvSpPr txBox="1"/>
          <p:nvPr/>
        </p:nvSpPr>
        <p:spPr>
          <a:xfrm>
            <a:off x="13789628" y="5347364"/>
            <a:ext cx="3032846" cy="1638300"/>
          </a:xfrm>
          <a:prstGeom prst="rect">
            <a:avLst/>
          </a:prstGeom>
        </p:spPr>
        <p:txBody>
          <a:bodyPr lIns="0" tIns="0" rIns="0" bIns="0" rtlCol="0" anchor="t">
            <a:spAutoFit/>
          </a:bodyPr>
          <a:lstStyle/>
          <a:p>
            <a:pPr algn="l">
              <a:lnSpc>
                <a:spcPts val="2160"/>
              </a:lnSpc>
            </a:pPr>
            <a:r>
              <a:rPr lang="en-US" sz="1800" b="1">
                <a:solidFill>
                  <a:srgbClr val="000000"/>
                </a:solidFill>
                <a:latin typeface="Calibri (MS) Bold"/>
                <a:ea typeface="Calibri (MS) Bold"/>
                <a:cs typeface="Calibri (MS) Bold"/>
                <a:sym typeface="Calibri (MS) Bold"/>
              </a:rPr>
              <a:t>Platform Administration </a:t>
            </a:r>
            <a:r>
              <a:rPr lang="en-US" sz="1800">
                <a:solidFill>
                  <a:srgbClr val="000000"/>
                </a:solidFill>
                <a:latin typeface="Calibri (MS)"/>
                <a:ea typeface="Calibri (MS)"/>
                <a:cs typeface="Calibri (MS)"/>
                <a:sym typeface="Calibri (MS)"/>
              </a:rPr>
              <a:t>benefits from centralized oversight, data-driven insights, and scalable digital infrastructure supporting agricultural trade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87"/>
            <a:ext cx="18288000" cy="447675"/>
          </a:xfrm>
          <a:custGeom>
            <a:avLst/>
            <a:gdLst/>
            <a:ahLst/>
            <a:cxnLst/>
            <a:rect l="l" t="t" r="r" b="b"/>
            <a:pathLst>
              <a:path w="18288000" h="447675">
                <a:moveTo>
                  <a:pt x="0" y="0"/>
                </a:moveTo>
                <a:lnTo>
                  <a:pt x="18288000" y="0"/>
                </a:lnTo>
                <a:lnTo>
                  <a:pt x="18288000" y="447675"/>
                </a:lnTo>
                <a:lnTo>
                  <a:pt x="0" y="447675"/>
                </a:lnTo>
                <a:lnTo>
                  <a:pt x="0" y="0"/>
                </a:lnTo>
                <a:close/>
              </a:path>
            </a:pathLst>
          </a:custGeom>
          <a:blipFill>
            <a:blip r:embed="rId2"/>
            <a:stretch>
              <a:fillRect/>
            </a:stretch>
          </a:blipFill>
        </p:spPr>
        <p:txBody>
          <a:bodyPr/>
          <a:lstStyle/>
          <a:p>
            <a:endParaRPr lang="en-GH"/>
          </a:p>
        </p:txBody>
      </p:sp>
      <p:sp>
        <p:nvSpPr>
          <p:cNvPr id="3" name="Freeform 3" descr="A picture containing food  Description automatically generated"/>
          <p:cNvSpPr/>
          <p:nvPr/>
        </p:nvSpPr>
        <p:spPr>
          <a:xfrm>
            <a:off x="16951357" y="9265444"/>
            <a:ext cx="1140543" cy="1021556"/>
          </a:xfrm>
          <a:custGeom>
            <a:avLst/>
            <a:gdLst/>
            <a:ahLst/>
            <a:cxnLst/>
            <a:rect l="l" t="t" r="r" b="b"/>
            <a:pathLst>
              <a:path w="1140543" h="1021556">
                <a:moveTo>
                  <a:pt x="0" y="0"/>
                </a:moveTo>
                <a:lnTo>
                  <a:pt x="1140542" y="0"/>
                </a:lnTo>
                <a:lnTo>
                  <a:pt x="1140542" y="1021556"/>
                </a:lnTo>
                <a:lnTo>
                  <a:pt x="0" y="1021556"/>
                </a:lnTo>
                <a:lnTo>
                  <a:pt x="0" y="0"/>
                </a:lnTo>
                <a:close/>
              </a:path>
            </a:pathLst>
          </a:custGeom>
          <a:blipFill>
            <a:blip r:embed="rId3"/>
            <a:stretch>
              <a:fillRect/>
            </a:stretch>
          </a:blipFill>
        </p:spPr>
        <p:txBody>
          <a:bodyPr/>
          <a:lstStyle/>
          <a:p>
            <a:endParaRPr lang="en-GH"/>
          </a:p>
        </p:txBody>
      </p:sp>
      <p:grpSp>
        <p:nvGrpSpPr>
          <p:cNvPr id="4" name="Group 4"/>
          <p:cNvGrpSpPr/>
          <p:nvPr/>
        </p:nvGrpSpPr>
        <p:grpSpPr>
          <a:xfrm>
            <a:off x="1257300" y="547688"/>
            <a:ext cx="15773400" cy="1988345"/>
            <a:chOff x="0" y="0"/>
            <a:chExt cx="21031200" cy="2651126"/>
          </a:xfrm>
        </p:grpSpPr>
        <p:sp>
          <p:nvSpPr>
            <p:cNvPr id="5" name="Freeform 5"/>
            <p:cNvSpPr/>
            <p:nvPr/>
          </p:nvSpPr>
          <p:spPr>
            <a:xfrm>
              <a:off x="0" y="0"/>
              <a:ext cx="21031200" cy="2651127"/>
            </a:xfrm>
            <a:custGeom>
              <a:avLst/>
              <a:gdLst/>
              <a:ahLst/>
              <a:cxnLst/>
              <a:rect l="l" t="t" r="r" b="b"/>
              <a:pathLst>
                <a:path w="21031200" h="2651127">
                  <a:moveTo>
                    <a:pt x="0" y="0"/>
                  </a:moveTo>
                  <a:lnTo>
                    <a:pt x="21031200" y="0"/>
                  </a:lnTo>
                  <a:lnTo>
                    <a:pt x="21031200" y="2651127"/>
                  </a:lnTo>
                  <a:lnTo>
                    <a:pt x="0" y="2651127"/>
                  </a:lnTo>
                  <a:close/>
                </a:path>
              </a:pathLst>
            </a:custGeom>
            <a:solidFill>
              <a:srgbClr val="000000">
                <a:alpha val="0"/>
              </a:srgbClr>
            </a:solidFill>
            <a:ln w="12700">
              <a:solidFill>
                <a:srgbClr val="000000"/>
              </a:solidFill>
            </a:ln>
          </p:spPr>
          <p:txBody>
            <a:bodyPr/>
            <a:lstStyle/>
            <a:p>
              <a:endParaRPr lang="en-GH"/>
            </a:p>
          </p:txBody>
        </p:sp>
        <p:sp>
          <p:nvSpPr>
            <p:cNvPr id="6" name="TextBox 6"/>
            <p:cNvSpPr txBox="1"/>
            <p:nvPr/>
          </p:nvSpPr>
          <p:spPr>
            <a:xfrm>
              <a:off x="0" y="66675"/>
              <a:ext cx="21031200" cy="2584451"/>
            </a:xfrm>
            <a:prstGeom prst="rect">
              <a:avLst/>
            </a:prstGeom>
          </p:spPr>
          <p:txBody>
            <a:bodyPr lIns="0" tIns="0" rIns="0" bIns="0" rtlCol="0" anchor="ctr"/>
            <a:lstStyle/>
            <a:p>
              <a:pPr algn="l">
                <a:lnSpc>
                  <a:spcPts val="7128"/>
                </a:lnSpc>
              </a:pPr>
              <a:r>
                <a:rPr lang="en-US" sz="6600" spc="-40">
                  <a:solidFill>
                    <a:srgbClr val="000000"/>
                  </a:solidFill>
                  <a:latin typeface="TT Rounds Condensed"/>
                  <a:ea typeface="TT Rounds Condensed"/>
                  <a:cs typeface="TT Rounds Condensed"/>
                  <a:sym typeface="TT Rounds Condensed"/>
                </a:rPr>
                <a:t>User / Customer</a:t>
              </a:r>
            </a:p>
          </p:txBody>
        </p:sp>
      </p:grpSp>
      <p:sp>
        <p:nvSpPr>
          <p:cNvPr id="7" name="TextBox 7"/>
          <p:cNvSpPr txBox="1"/>
          <p:nvPr/>
        </p:nvSpPr>
        <p:spPr>
          <a:xfrm>
            <a:off x="1348740" y="2631758"/>
            <a:ext cx="15590520" cy="4203573"/>
          </a:xfrm>
          <a:prstGeom prst="rect">
            <a:avLst/>
          </a:prstGeom>
        </p:spPr>
        <p:txBody>
          <a:bodyPr lIns="0" tIns="0" rIns="0" bIns="0" rtlCol="0" anchor="t">
            <a:spAutoFit/>
          </a:bodyPr>
          <a:lstStyle/>
          <a:p>
            <a:pPr marL="488632" lvl="1" indent="-244316" algn="l">
              <a:lnSpc>
                <a:spcPts val="4266"/>
              </a:lnSpc>
              <a:buFont typeface="Arial"/>
              <a:buChar char="•"/>
            </a:pPr>
            <a:r>
              <a:rPr lang="en-US" sz="2700" b="1">
                <a:solidFill>
                  <a:srgbClr val="000000"/>
                </a:solidFill>
                <a:latin typeface="Calibri (MS) Bold"/>
                <a:ea typeface="Calibri (MS) Bold"/>
                <a:cs typeface="Calibri (MS) Bold"/>
                <a:sym typeface="Calibri (MS) Bold"/>
              </a:rPr>
              <a:t>Business:</a:t>
            </a:r>
            <a:r>
              <a:rPr lang="en-US" sz="2700">
                <a:solidFill>
                  <a:srgbClr val="000000"/>
                </a:solidFill>
                <a:latin typeface="Calibri (MS)"/>
                <a:ea typeface="Calibri (MS)"/>
                <a:cs typeface="Calibri (MS)"/>
                <a:sym typeface="Calibri (MS)"/>
              </a:rPr>
              <a:t> AgriShop Rwanda – Digital Agricultural Marketplace</a:t>
            </a:r>
          </a:p>
          <a:p>
            <a:pPr marL="488632" lvl="1" indent="-244316" algn="l">
              <a:lnSpc>
                <a:spcPts val="4266"/>
              </a:lnSpc>
              <a:buFont typeface="Arial"/>
              <a:buChar char="•"/>
            </a:pPr>
            <a:r>
              <a:rPr lang="en-US" sz="2700" b="1">
                <a:solidFill>
                  <a:srgbClr val="000000"/>
                </a:solidFill>
                <a:latin typeface="Calibri (MS) Bold"/>
                <a:ea typeface="Calibri (MS) Bold"/>
                <a:cs typeface="Calibri (MS) Bold"/>
                <a:sym typeface="Calibri (MS) Bold"/>
              </a:rPr>
              <a:t>Services: </a:t>
            </a:r>
            <a:r>
              <a:rPr lang="en-US" sz="2700">
                <a:solidFill>
                  <a:srgbClr val="000000"/>
                </a:solidFill>
                <a:latin typeface="Calibri (MS)"/>
                <a:ea typeface="Calibri (MS)"/>
                <a:cs typeface="Calibri (MS)"/>
                <a:sym typeface="Calibri (MS)"/>
              </a:rPr>
              <a:t>Produce trading, advisory services, market insights</a:t>
            </a:r>
          </a:p>
          <a:p>
            <a:pPr algn="l">
              <a:lnSpc>
                <a:spcPts val="4266"/>
              </a:lnSpc>
            </a:pPr>
            <a:endParaRPr lang="en-US" sz="2700">
              <a:solidFill>
                <a:srgbClr val="000000"/>
              </a:solidFill>
              <a:latin typeface="Calibri (MS)"/>
              <a:ea typeface="Calibri (MS)"/>
              <a:cs typeface="Calibri (MS)"/>
              <a:sym typeface="Calibri (MS)"/>
            </a:endParaRPr>
          </a:p>
          <a:p>
            <a:pPr algn="l">
              <a:lnSpc>
                <a:spcPts val="4266"/>
              </a:lnSpc>
            </a:pPr>
            <a:r>
              <a:rPr lang="en-US" sz="2700" b="1">
                <a:solidFill>
                  <a:srgbClr val="000000"/>
                </a:solidFill>
                <a:latin typeface="Calibri (MS) Bold"/>
                <a:ea typeface="Calibri (MS) Bold"/>
                <a:cs typeface="Calibri (MS) Bold"/>
                <a:sym typeface="Calibri (MS) Bold"/>
              </a:rPr>
              <a:t>User Roles:</a:t>
            </a:r>
          </a:p>
          <a:p>
            <a:pPr marL="488632" lvl="1" indent="-244316" algn="l">
              <a:lnSpc>
                <a:spcPts val="4266"/>
              </a:lnSpc>
              <a:buFont typeface="Arial"/>
              <a:buChar char="•"/>
            </a:pPr>
            <a:r>
              <a:rPr lang="en-US" sz="2700" b="1">
                <a:solidFill>
                  <a:srgbClr val="000000"/>
                </a:solidFill>
                <a:latin typeface="Calibri (MS) Bold"/>
                <a:ea typeface="Calibri (MS) Bold"/>
                <a:cs typeface="Calibri (MS) Bold"/>
                <a:sym typeface="Calibri (MS) Bold"/>
              </a:rPr>
              <a:t>Farmers</a:t>
            </a:r>
            <a:r>
              <a:rPr lang="en-US" sz="2700">
                <a:solidFill>
                  <a:srgbClr val="000000"/>
                </a:solidFill>
                <a:latin typeface="Calibri (MS)"/>
                <a:ea typeface="Calibri (MS)"/>
                <a:cs typeface="Calibri (MS)"/>
                <a:sym typeface="Calibri (MS)"/>
              </a:rPr>
              <a:t>: List products, manage inventory, access analytics</a:t>
            </a:r>
          </a:p>
          <a:p>
            <a:pPr marL="488632" lvl="1" indent="-244316" algn="l">
              <a:lnSpc>
                <a:spcPts val="4266"/>
              </a:lnSpc>
              <a:buFont typeface="Arial"/>
              <a:buChar char="•"/>
            </a:pPr>
            <a:r>
              <a:rPr lang="en-US" sz="2700" b="1">
                <a:solidFill>
                  <a:srgbClr val="000000"/>
                </a:solidFill>
                <a:latin typeface="Calibri (MS) Bold"/>
                <a:ea typeface="Calibri (MS) Bold"/>
                <a:cs typeface="Calibri (MS) Bold"/>
                <a:sym typeface="Calibri (MS) Bold"/>
              </a:rPr>
              <a:t>Buyers: </a:t>
            </a:r>
            <a:r>
              <a:rPr lang="en-US" sz="2700">
                <a:solidFill>
                  <a:srgbClr val="000000"/>
                </a:solidFill>
                <a:latin typeface="Calibri (MS)"/>
                <a:ea typeface="Calibri (MS)"/>
                <a:cs typeface="Calibri (MS)"/>
                <a:sym typeface="Calibri (MS)"/>
              </a:rPr>
              <a:t>Browse, search, purchase, review products</a:t>
            </a:r>
          </a:p>
          <a:p>
            <a:pPr marL="582930" lvl="1" indent="-291465" algn="l">
              <a:lnSpc>
                <a:spcPts val="4266"/>
              </a:lnSpc>
              <a:buFont typeface="Arial"/>
              <a:buChar char="•"/>
            </a:pPr>
            <a:r>
              <a:rPr lang="en-US" sz="2700" b="1">
                <a:solidFill>
                  <a:srgbClr val="000000"/>
                </a:solidFill>
                <a:latin typeface="Calibri (MS) Bold"/>
                <a:ea typeface="Calibri (MS) Bold"/>
                <a:cs typeface="Calibri (MS) Bold"/>
                <a:sym typeface="Calibri (MS) Bold"/>
              </a:rPr>
              <a:t>Admin:</a:t>
            </a:r>
            <a:r>
              <a:rPr lang="en-US" sz="2700">
                <a:solidFill>
                  <a:srgbClr val="000000"/>
                </a:solidFill>
                <a:latin typeface="Calibri (MS)"/>
                <a:ea typeface="Calibri (MS)"/>
                <a:cs typeface="Calibri (MS)"/>
                <a:sym typeface="Calibri (MS)"/>
              </a:rPr>
              <a:t> Manage users, content, and system operations</a:t>
            </a:r>
          </a:p>
          <a:p>
            <a:pPr marL="488632" lvl="1" indent="-244316" algn="l">
              <a:lnSpc>
                <a:spcPts val="2916"/>
              </a:lnSpc>
            </a:pPr>
            <a:endParaRPr lang="en-US" sz="2700">
              <a:solidFill>
                <a:srgbClr val="000000"/>
              </a:solidFill>
              <a:latin typeface="Calibri (MS)"/>
              <a:ea typeface="Calibri (MS)"/>
              <a:cs typeface="Calibri (MS)"/>
              <a:sym typeface="Calibri (M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87"/>
            <a:ext cx="18288000" cy="447675"/>
          </a:xfrm>
          <a:custGeom>
            <a:avLst/>
            <a:gdLst/>
            <a:ahLst/>
            <a:cxnLst/>
            <a:rect l="l" t="t" r="r" b="b"/>
            <a:pathLst>
              <a:path w="18288000" h="447675">
                <a:moveTo>
                  <a:pt x="0" y="0"/>
                </a:moveTo>
                <a:lnTo>
                  <a:pt x="18288000" y="0"/>
                </a:lnTo>
                <a:lnTo>
                  <a:pt x="18288000" y="447675"/>
                </a:lnTo>
                <a:lnTo>
                  <a:pt x="0" y="447675"/>
                </a:lnTo>
                <a:lnTo>
                  <a:pt x="0" y="0"/>
                </a:lnTo>
                <a:close/>
              </a:path>
            </a:pathLst>
          </a:custGeom>
          <a:blipFill>
            <a:blip r:embed="rId2"/>
            <a:stretch>
              <a:fillRect/>
            </a:stretch>
          </a:blipFill>
        </p:spPr>
        <p:txBody>
          <a:bodyPr/>
          <a:lstStyle/>
          <a:p>
            <a:endParaRPr lang="en-GH"/>
          </a:p>
        </p:txBody>
      </p:sp>
      <p:sp>
        <p:nvSpPr>
          <p:cNvPr id="3" name="Freeform 3" descr="A picture containing food  Description automatically generated"/>
          <p:cNvSpPr/>
          <p:nvPr/>
        </p:nvSpPr>
        <p:spPr>
          <a:xfrm>
            <a:off x="16951357" y="9265444"/>
            <a:ext cx="1140543" cy="1021556"/>
          </a:xfrm>
          <a:custGeom>
            <a:avLst/>
            <a:gdLst/>
            <a:ahLst/>
            <a:cxnLst/>
            <a:rect l="l" t="t" r="r" b="b"/>
            <a:pathLst>
              <a:path w="1140543" h="1021556">
                <a:moveTo>
                  <a:pt x="0" y="0"/>
                </a:moveTo>
                <a:lnTo>
                  <a:pt x="1140542" y="0"/>
                </a:lnTo>
                <a:lnTo>
                  <a:pt x="1140542" y="1021556"/>
                </a:lnTo>
                <a:lnTo>
                  <a:pt x="0" y="1021556"/>
                </a:lnTo>
                <a:lnTo>
                  <a:pt x="0" y="0"/>
                </a:lnTo>
                <a:close/>
              </a:path>
            </a:pathLst>
          </a:custGeom>
          <a:blipFill>
            <a:blip r:embed="rId3"/>
            <a:stretch>
              <a:fillRect/>
            </a:stretch>
          </a:blipFill>
        </p:spPr>
        <p:txBody>
          <a:bodyPr/>
          <a:lstStyle/>
          <a:p>
            <a:endParaRPr lang="en-GH"/>
          </a:p>
        </p:txBody>
      </p:sp>
      <p:grpSp>
        <p:nvGrpSpPr>
          <p:cNvPr id="4" name="Group 4"/>
          <p:cNvGrpSpPr/>
          <p:nvPr/>
        </p:nvGrpSpPr>
        <p:grpSpPr>
          <a:xfrm>
            <a:off x="1257300" y="547688"/>
            <a:ext cx="15773400" cy="1988345"/>
            <a:chOff x="0" y="0"/>
            <a:chExt cx="21031200" cy="2651126"/>
          </a:xfrm>
        </p:grpSpPr>
        <p:sp>
          <p:nvSpPr>
            <p:cNvPr id="5" name="Freeform 5"/>
            <p:cNvSpPr/>
            <p:nvPr/>
          </p:nvSpPr>
          <p:spPr>
            <a:xfrm>
              <a:off x="0" y="0"/>
              <a:ext cx="21031200" cy="2651127"/>
            </a:xfrm>
            <a:custGeom>
              <a:avLst/>
              <a:gdLst/>
              <a:ahLst/>
              <a:cxnLst/>
              <a:rect l="l" t="t" r="r" b="b"/>
              <a:pathLst>
                <a:path w="21031200" h="2651127">
                  <a:moveTo>
                    <a:pt x="0" y="0"/>
                  </a:moveTo>
                  <a:lnTo>
                    <a:pt x="21031200" y="0"/>
                  </a:lnTo>
                  <a:lnTo>
                    <a:pt x="21031200" y="2651127"/>
                  </a:lnTo>
                  <a:lnTo>
                    <a:pt x="0" y="2651127"/>
                  </a:lnTo>
                  <a:close/>
                </a:path>
              </a:pathLst>
            </a:custGeom>
            <a:solidFill>
              <a:srgbClr val="000000">
                <a:alpha val="0"/>
              </a:srgbClr>
            </a:solidFill>
            <a:ln w="12700">
              <a:solidFill>
                <a:srgbClr val="000000"/>
              </a:solidFill>
            </a:ln>
          </p:spPr>
          <p:txBody>
            <a:bodyPr/>
            <a:lstStyle/>
            <a:p>
              <a:endParaRPr lang="en-GH"/>
            </a:p>
          </p:txBody>
        </p:sp>
        <p:sp>
          <p:nvSpPr>
            <p:cNvPr id="6" name="TextBox 6"/>
            <p:cNvSpPr txBox="1"/>
            <p:nvPr/>
          </p:nvSpPr>
          <p:spPr>
            <a:xfrm>
              <a:off x="0" y="66675"/>
              <a:ext cx="21031200" cy="2584451"/>
            </a:xfrm>
            <a:prstGeom prst="rect">
              <a:avLst/>
            </a:prstGeom>
          </p:spPr>
          <p:txBody>
            <a:bodyPr lIns="0" tIns="0" rIns="0" bIns="0" rtlCol="0" anchor="ctr"/>
            <a:lstStyle/>
            <a:p>
              <a:pPr algn="l">
                <a:lnSpc>
                  <a:spcPts val="7128"/>
                </a:lnSpc>
              </a:pPr>
              <a:r>
                <a:rPr lang="en-US" sz="6600" spc="-40">
                  <a:solidFill>
                    <a:srgbClr val="000000"/>
                  </a:solidFill>
                  <a:latin typeface="TT Rounds Condensed"/>
                  <a:ea typeface="TT Rounds Condensed"/>
                  <a:cs typeface="TT Rounds Condensed"/>
                  <a:sym typeface="TT Rounds Condensed"/>
                </a:rPr>
                <a:t>Functions</a:t>
              </a:r>
            </a:p>
          </p:txBody>
        </p:sp>
      </p:grpSp>
      <p:sp>
        <p:nvSpPr>
          <p:cNvPr id="7" name="TextBox 7"/>
          <p:cNvSpPr txBox="1"/>
          <p:nvPr/>
        </p:nvSpPr>
        <p:spPr>
          <a:xfrm>
            <a:off x="1257300" y="2160597"/>
            <a:ext cx="15590520" cy="8676132"/>
          </a:xfrm>
          <a:prstGeom prst="rect">
            <a:avLst/>
          </a:prstGeom>
        </p:spPr>
        <p:txBody>
          <a:bodyPr lIns="0" tIns="0" rIns="0" bIns="0" rtlCol="0" anchor="t">
            <a:spAutoFit/>
          </a:bodyPr>
          <a:lstStyle/>
          <a:p>
            <a:pPr marL="906780" lvl="1" indent="-453390" algn="l">
              <a:lnSpc>
                <a:spcPts val="5712"/>
              </a:lnSpc>
              <a:buAutoNum type="arabicPeriod"/>
            </a:pPr>
            <a:r>
              <a:rPr lang="en-US" sz="4200" b="1">
                <a:solidFill>
                  <a:srgbClr val="000000"/>
                </a:solidFill>
                <a:latin typeface="Calibri (MS) Bold"/>
                <a:ea typeface="Calibri (MS) Bold"/>
                <a:cs typeface="Calibri (MS) Bold"/>
                <a:sym typeface="Calibri (MS) Bold"/>
              </a:rPr>
              <a:t>Easy buying and selling for everyone:</a:t>
            </a:r>
            <a:r>
              <a:rPr lang="en-US" sz="4200">
                <a:solidFill>
                  <a:srgbClr val="000000"/>
                </a:solidFill>
                <a:latin typeface="Calibri (MS)"/>
                <a:ea typeface="Calibri (MS)"/>
                <a:cs typeface="Calibri (MS)"/>
                <a:sym typeface="Calibri (MS)"/>
              </a:rPr>
              <a:t> farmers can list their produce, and buyers can easily browse and purchase fresh agricultural products online.</a:t>
            </a:r>
          </a:p>
          <a:p>
            <a:pPr marL="906780" lvl="1" indent="-453390" algn="l">
              <a:lnSpc>
                <a:spcPts val="5712"/>
              </a:lnSpc>
              <a:buAutoNum type="arabicPeriod"/>
            </a:pPr>
            <a:r>
              <a:rPr lang="en-US" sz="4200" b="1">
                <a:solidFill>
                  <a:srgbClr val="000000"/>
                </a:solidFill>
                <a:latin typeface="Calibri (MS) Bold"/>
                <a:ea typeface="Calibri (MS) Bold"/>
                <a:cs typeface="Calibri (MS) Bold"/>
                <a:sym typeface="Calibri (MS) Bold"/>
              </a:rPr>
              <a:t>Designed for busy users: </a:t>
            </a:r>
            <a:r>
              <a:rPr lang="en-US" sz="4200">
                <a:solidFill>
                  <a:srgbClr val="000000"/>
                </a:solidFill>
                <a:latin typeface="Calibri (MS)"/>
                <a:ea typeface="Calibri (MS)"/>
                <a:cs typeface="Calibri (MS)"/>
                <a:sym typeface="Calibri (MS)"/>
              </a:rPr>
              <a:t>buyers and farmers can trade without going to physical markets or spending long hours negotiating with middlemen.</a:t>
            </a:r>
          </a:p>
          <a:p>
            <a:pPr marL="906780" lvl="1" indent="-453390" algn="l">
              <a:lnSpc>
                <a:spcPts val="5712"/>
              </a:lnSpc>
              <a:buAutoNum type="arabicPeriod"/>
            </a:pPr>
            <a:r>
              <a:rPr lang="en-US" sz="4200" b="1">
                <a:solidFill>
                  <a:srgbClr val="000000"/>
                </a:solidFill>
                <a:latin typeface="Calibri (MS) Bold"/>
                <a:ea typeface="Calibri (MS) Bold"/>
                <a:cs typeface="Calibri (MS) Bold"/>
                <a:sym typeface="Calibri (MS) Bold"/>
              </a:rPr>
              <a:t>Product marketplace and search:</a:t>
            </a:r>
            <a:r>
              <a:rPr lang="en-US" sz="4200">
                <a:solidFill>
                  <a:srgbClr val="000000"/>
                </a:solidFill>
                <a:latin typeface="Calibri (MS)"/>
                <a:ea typeface="Calibri (MS)"/>
                <a:cs typeface="Calibri (MS)"/>
                <a:sym typeface="Calibri (MS)"/>
              </a:rPr>
              <a:t> users can view products by category, price, and location to quickly find what they need.</a:t>
            </a:r>
          </a:p>
          <a:p>
            <a:pPr marL="906780" lvl="1" indent="-453390" algn="l">
              <a:lnSpc>
                <a:spcPts val="5712"/>
              </a:lnSpc>
              <a:buAutoNum type="arabicPeriod"/>
            </a:pPr>
            <a:r>
              <a:rPr lang="en-US" sz="4200" b="1">
                <a:solidFill>
                  <a:srgbClr val="000000"/>
                </a:solidFill>
                <a:latin typeface="Calibri (MS) Bold"/>
                <a:ea typeface="Calibri (MS) Bold"/>
                <a:cs typeface="Calibri (MS) Bold"/>
                <a:sym typeface="Calibri (MS) Bold"/>
              </a:rPr>
              <a:t>Advisory and weather information:</a:t>
            </a:r>
            <a:r>
              <a:rPr lang="en-US" sz="4200">
                <a:solidFill>
                  <a:srgbClr val="000000"/>
                </a:solidFill>
                <a:latin typeface="Calibri (MS)"/>
                <a:ea typeface="Calibri (MS)"/>
                <a:cs typeface="Calibri (MS)"/>
                <a:sym typeface="Calibri (MS)"/>
              </a:rPr>
              <a:t> farmers can access farming tips and weather updates to help them make better farming decisions</a:t>
            </a:r>
          </a:p>
          <a:p>
            <a:pPr algn="l">
              <a:lnSpc>
                <a:spcPts val="4536"/>
              </a:lnSpc>
            </a:pPr>
            <a:endParaRPr lang="en-US" sz="4200">
              <a:solidFill>
                <a:srgbClr val="000000"/>
              </a:solidFill>
              <a:latin typeface="Calibri (MS)"/>
              <a:ea typeface="Calibri (MS)"/>
              <a:cs typeface="Calibri (MS)"/>
              <a:sym typeface="Calibri (M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9087"/>
            <a:ext cx="18288000" cy="447675"/>
          </a:xfrm>
          <a:custGeom>
            <a:avLst/>
            <a:gdLst/>
            <a:ahLst/>
            <a:cxnLst/>
            <a:rect l="l" t="t" r="r" b="b"/>
            <a:pathLst>
              <a:path w="18288000" h="447675">
                <a:moveTo>
                  <a:pt x="0" y="0"/>
                </a:moveTo>
                <a:lnTo>
                  <a:pt x="18288000" y="0"/>
                </a:lnTo>
                <a:lnTo>
                  <a:pt x="18288000" y="447675"/>
                </a:lnTo>
                <a:lnTo>
                  <a:pt x="0" y="447675"/>
                </a:lnTo>
                <a:lnTo>
                  <a:pt x="0" y="0"/>
                </a:lnTo>
                <a:close/>
              </a:path>
            </a:pathLst>
          </a:custGeom>
          <a:blipFill>
            <a:blip r:embed="rId2"/>
            <a:stretch>
              <a:fillRect/>
            </a:stretch>
          </a:blipFill>
        </p:spPr>
        <p:txBody>
          <a:bodyPr/>
          <a:lstStyle/>
          <a:p>
            <a:endParaRPr lang="en-GH"/>
          </a:p>
        </p:txBody>
      </p:sp>
      <p:sp>
        <p:nvSpPr>
          <p:cNvPr id="3" name="Freeform 3" descr="A picture containing food  Description automatically generated"/>
          <p:cNvSpPr/>
          <p:nvPr/>
        </p:nvSpPr>
        <p:spPr>
          <a:xfrm>
            <a:off x="16951357" y="9265444"/>
            <a:ext cx="1140543" cy="1021556"/>
          </a:xfrm>
          <a:custGeom>
            <a:avLst/>
            <a:gdLst/>
            <a:ahLst/>
            <a:cxnLst/>
            <a:rect l="l" t="t" r="r" b="b"/>
            <a:pathLst>
              <a:path w="1140543" h="1021556">
                <a:moveTo>
                  <a:pt x="0" y="0"/>
                </a:moveTo>
                <a:lnTo>
                  <a:pt x="1140542" y="0"/>
                </a:lnTo>
                <a:lnTo>
                  <a:pt x="1140542" y="1021556"/>
                </a:lnTo>
                <a:lnTo>
                  <a:pt x="0" y="1021556"/>
                </a:lnTo>
                <a:lnTo>
                  <a:pt x="0" y="0"/>
                </a:lnTo>
                <a:close/>
              </a:path>
            </a:pathLst>
          </a:custGeom>
          <a:blipFill>
            <a:blip r:embed="rId3"/>
            <a:stretch>
              <a:fillRect/>
            </a:stretch>
          </a:blipFill>
        </p:spPr>
        <p:txBody>
          <a:bodyPr/>
          <a:lstStyle/>
          <a:p>
            <a:endParaRPr lang="en-GH"/>
          </a:p>
        </p:txBody>
      </p:sp>
      <p:grpSp>
        <p:nvGrpSpPr>
          <p:cNvPr id="4" name="Group 4"/>
          <p:cNvGrpSpPr/>
          <p:nvPr/>
        </p:nvGrpSpPr>
        <p:grpSpPr>
          <a:xfrm>
            <a:off x="1485900" y="1612296"/>
            <a:ext cx="15773400" cy="1988345"/>
            <a:chOff x="0" y="0"/>
            <a:chExt cx="21031200" cy="2651126"/>
          </a:xfrm>
        </p:grpSpPr>
        <p:sp>
          <p:nvSpPr>
            <p:cNvPr id="5" name="Freeform 5"/>
            <p:cNvSpPr/>
            <p:nvPr/>
          </p:nvSpPr>
          <p:spPr>
            <a:xfrm>
              <a:off x="0" y="0"/>
              <a:ext cx="21031200" cy="2651127"/>
            </a:xfrm>
            <a:custGeom>
              <a:avLst/>
              <a:gdLst/>
              <a:ahLst/>
              <a:cxnLst/>
              <a:rect l="l" t="t" r="r" b="b"/>
              <a:pathLst>
                <a:path w="21031200" h="2651127">
                  <a:moveTo>
                    <a:pt x="0" y="0"/>
                  </a:moveTo>
                  <a:lnTo>
                    <a:pt x="21031200" y="0"/>
                  </a:lnTo>
                  <a:lnTo>
                    <a:pt x="21031200" y="2651127"/>
                  </a:lnTo>
                  <a:lnTo>
                    <a:pt x="0" y="2651127"/>
                  </a:lnTo>
                  <a:close/>
                </a:path>
              </a:pathLst>
            </a:custGeom>
            <a:solidFill>
              <a:srgbClr val="000000">
                <a:alpha val="0"/>
              </a:srgbClr>
            </a:solidFill>
            <a:ln w="12700">
              <a:solidFill>
                <a:srgbClr val="000000"/>
              </a:solidFill>
            </a:ln>
          </p:spPr>
          <p:txBody>
            <a:bodyPr/>
            <a:lstStyle/>
            <a:p>
              <a:endParaRPr lang="en-GH"/>
            </a:p>
          </p:txBody>
        </p:sp>
        <p:sp>
          <p:nvSpPr>
            <p:cNvPr id="6" name="TextBox 6"/>
            <p:cNvSpPr txBox="1"/>
            <p:nvPr/>
          </p:nvSpPr>
          <p:spPr>
            <a:xfrm>
              <a:off x="0" y="66675"/>
              <a:ext cx="21031200" cy="2584451"/>
            </a:xfrm>
            <a:prstGeom prst="rect">
              <a:avLst/>
            </a:prstGeom>
          </p:spPr>
          <p:txBody>
            <a:bodyPr lIns="0" tIns="0" rIns="0" bIns="0" rtlCol="0" anchor="ctr"/>
            <a:lstStyle/>
            <a:p>
              <a:pPr algn="l">
                <a:lnSpc>
                  <a:spcPts val="7128"/>
                </a:lnSpc>
              </a:pPr>
              <a:r>
                <a:rPr lang="en-US" sz="6600" b="1" spc="-40">
                  <a:solidFill>
                    <a:srgbClr val="000000"/>
                  </a:solidFill>
                  <a:latin typeface="TT Rounds Condensed Bold"/>
                  <a:ea typeface="TT Rounds Condensed Bold"/>
                  <a:cs typeface="TT Rounds Condensed Bold"/>
                  <a:sym typeface="TT Rounds Condensed Bold"/>
                </a:rPr>
                <a:t>3 tier architecture</a:t>
              </a:r>
            </a:p>
          </p:txBody>
        </p:sp>
      </p:grpSp>
      <p:grpSp>
        <p:nvGrpSpPr>
          <p:cNvPr id="7" name="Group 7"/>
          <p:cNvGrpSpPr/>
          <p:nvPr/>
        </p:nvGrpSpPr>
        <p:grpSpPr>
          <a:xfrm>
            <a:off x="1104900" y="4238816"/>
            <a:ext cx="4318533" cy="5537406"/>
            <a:chOff x="0" y="0"/>
            <a:chExt cx="1137392" cy="1458412"/>
          </a:xfrm>
        </p:grpSpPr>
        <p:sp>
          <p:nvSpPr>
            <p:cNvPr id="8" name="Freeform 8"/>
            <p:cNvSpPr/>
            <p:nvPr/>
          </p:nvSpPr>
          <p:spPr>
            <a:xfrm>
              <a:off x="0" y="0"/>
              <a:ext cx="1137392" cy="1458412"/>
            </a:xfrm>
            <a:custGeom>
              <a:avLst/>
              <a:gdLst/>
              <a:ahLst/>
              <a:cxnLst/>
              <a:rect l="l" t="t" r="r" b="b"/>
              <a:pathLst>
                <a:path w="1137392" h="1458412">
                  <a:moveTo>
                    <a:pt x="1137392" y="0"/>
                  </a:moveTo>
                  <a:lnTo>
                    <a:pt x="1137392" y="1458412"/>
                  </a:lnTo>
                  <a:lnTo>
                    <a:pt x="0" y="1458412"/>
                  </a:lnTo>
                  <a:lnTo>
                    <a:pt x="0" y="0"/>
                  </a:lnTo>
                  <a:close/>
                </a:path>
              </a:pathLst>
            </a:custGeom>
            <a:solidFill>
              <a:srgbClr val="0025CC"/>
            </a:solidFill>
          </p:spPr>
          <p:txBody>
            <a:bodyPr/>
            <a:lstStyle/>
            <a:p>
              <a:endParaRPr lang="en-GH"/>
            </a:p>
          </p:txBody>
        </p:sp>
        <p:sp>
          <p:nvSpPr>
            <p:cNvPr id="9" name="TextBox 9"/>
            <p:cNvSpPr txBox="1"/>
            <p:nvPr/>
          </p:nvSpPr>
          <p:spPr>
            <a:xfrm>
              <a:off x="0" y="-38100"/>
              <a:ext cx="1137392" cy="1496512"/>
            </a:xfrm>
            <a:prstGeom prst="rect">
              <a:avLst/>
            </a:prstGeom>
          </p:spPr>
          <p:txBody>
            <a:bodyPr lIns="50800" tIns="50800" rIns="50800" bIns="50800" rtlCol="0" anchor="ctr"/>
            <a:lstStyle/>
            <a:p>
              <a:pPr algn="ctr">
                <a:lnSpc>
                  <a:spcPts val="2160"/>
                </a:lnSpc>
              </a:pPr>
              <a:endParaRPr/>
            </a:p>
          </p:txBody>
        </p:sp>
      </p:grpSp>
      <p:grpSp>
        <p:nvGrpSpPr>
          <p:cNvPr id="10" name="Group 10"/>
          <p:cNvGrpSpPr/>
          <p:nvPr/>
        </p:nvGrpSpPr>
        <p:grpSpPr>
          <a:xfrm>
            <a:off x="9741967" y="4238816"/>
            <a:ext cx="4318533" cy="5537406"/>
            <a:chOff x="0" y="0"/>
            <a:chExt cx="1137392" cy="1458412"/>
          </a:xfrm>
        </p:grpSpPr>
        <p:sp>
          <p:nvSpPr>
            <p:cNvPr id="11" name="Freeform 11"/>
            <p:cNvSpPr/>
            <p:nvPr/>
          </p:nvSpPr>
          <p:spPr>
            <a:xfrm>
              <a:off x="0" y="0"/>
              <a:ext cx="1137392" cy="1458412"/>
            </a:xfrm>
            <a:custGeom>
              <a:avLst/>
              <a:gdLst/>
              <a:ahLst/>
              <a:cxnLst/>
              <a:rect l="l" t="t" r="r" b="b"/>
              <a:pathLst>
                <a:path w="1137392" h="1458412">
                  <a:moveTo>
                    <a:pt x="1137392" y="0"/>
                  </a:moveTo>
                  <a:lnTo>
                    <a:pt x="1137392" y="1458412"/>
                  </a:lnTo>
                  <a:lnTo>
                    <a:pt x="0" y="1458412"/>
                  </a:lnTo>
                  <a:lnTo>
                    <a:pt x="0" y="0"/>
                  </a:lnTo>
                  <a:close/>
                </a:path>
              </a:pathLst>
            </a:custGeom>
            <a:solidFill>
              <a:srgbClr val="0025CC"/>
            </a:solidFill>
          </p:spPr>
          <p:txBody>
            <a:bodyPr/>
            <a:lstStyle/>
            <a:p>
              <a:endParaRPr lang="en-GH"/>
            </a:p>
          </p:txBody>
        </p:sp>
        <p:sp>
          <p:nvSpPr>
            <p:cNvPr id="12" name="TextBox 12"/>
            <p:cNvSpPr txBox="1"/>
            <p:nvPr/>
          </p:nvSpPr>
          <p:spPr>
            <a:xfrm>
              <a:off x="0" y="-38100"/>
              <a:ext cx="1137392" cy="1496512"/>
            </a:xfrm>
            <a:prstGeom prst="rect">
              <a:avLst/>
            </a:prstGeom>
          </p:spPr>
          <p:txBody>
            <a:bodyPr lIns="50800" tIns="50800" rIns="50800" bIns="50800" rtlCol="0" anchor="ctr"/>
            <a:lstStyle/>
            <a:p>
              <a:pPr algn="ctr">
                <a:lnSpc>
                  <a:spcPts val="2160"/>
                </a:lnSpc>
              </a:pPr>
              <a:endParaRPr/>
            </a:p>
          </p:txBody>
        </p:sp>
      </p:grpSp>
      <p:grpSp>
        <p:nvGrpSpPr>
          <p:cNvPr id="13" name="Group 13"/>
          <p:cNvGrpSpPr/>
          <p:nvPr/>
        </p:nvGrpSpPr>
        <p:grpSpPr>
          <a:xfrm>
            <a:off x="5423433" y="4238816"/>
            <a:ext cx="4318533" cy="5537406"/>
            <a:chOff x="0" y="0"/>
            <a:chExt cx="1137392" cy="1458412"/>
          </a:xfrm>
        </p:grpSpPr>
        <p:sp>
          <p:nvSpPr>
            <p:cNvPr id="14" name="Freeform 14"/>
            <p:cNvSpPr/>
            <p:nvPr/>
          </p:nvSpPr>
          <p:spPr>
            <a:xfrm>
              <a:off x="0" y="0"/>
              <a:ext cx="1137392" cy="1458412"/>
            </a:xfrm>
            <a:custGeom>
              <a:avLst/>
              <a:gdLst/>
              <a:ahLst/>
              <a:cxnLst/>
              <a:rect l="l" t="t" r="r" b="b"/>
              <a:pathLst>
                <a:path w="1137392" h="1458412">
                  <a:moveTo>
                    <a:pt x="1137392" y="0"/>
                  </a:moveTo>
                  <a:lnTo>
                    <a:pt x="1137392" y="1458412"/>
                  </a:lnTo>
                  <a:lnTo>
                    <a:pt x="0" y="1458412"/>
                  </a:lnTo>
                  <a:lnTo>
                    <a:pt x="0" y="0"/>
                  </a:lnTo>
                  <a:close/>
                </a:path>
              </a:pathLst>
            </a:custGeom>
            <a:solidFill>
              <a:srgbClr val="0025CC"/>
            </a:solidFill>
          </p:spPr>
          <p:txBody>
            <a:bodyPr/>
            <a:lstStyle/>
            <a:p>
              <a:endParaRPr lang="en-GH"/>
            </a:p>
          </p:txBody>
        </p:sp>
        <p:sp>
          <p:nvSpPr>
            <p:cNvPr id="15" name="TextBox 15"/>
            <p:cNvSpPr txBox="1"/>
            <p:nvPr/>
          </p:nvSpPr>
          <p:spPr>
            <a:xfrm>
              <a:off x="0" y="-38100"/>
              <a:ext cx="1137392" cy="1496512"/>
            </a:xfrm>
            <a:prstGeom prst="rect">
              <a:avLst/>
            </a:prstGeom>
          </p:spPr>
          <p:txBody>
            <a:bodyPr lIns="50800" tIns="50800" rIns="50800" bIns="50800" rtlCol="0" anchor="ctr"/>
            <a:lstStyle/>
            <a:p>
              <a:pPr algn="ctr">
                <a:lnSpc>
                  <a:spcPts val="2160"/>
                </a:lnSpc>
              </a:pPr>
              <a:endParaRPr/>
            </a:p>
          </p:txBody>
        </p:sp>
      </p:grpSp>
      <p:sp>
        <p:nvSpPr>
          <p:cNvPr id="16" name="TextBox 16"/>
          <p:cNvSpPr txBox="1"/>
          <p:nvPr/>
        </p:nvSpPr>
        <p:spPr>
          <a:xfrm>
            <a:off x="1605992" y="4572636"/>
            <a:ext cx="3308449" cy="448308"/>
          </a:xfrm>
          <a:prstGeom prst="rect">
            <a:avLst/>
          </a:prstGeom>
        </p:spPr>
        <p:txBody>
          <a:bodyPr lIns="0" tIns="0" rIns="0" bIns="0" rtlCol="0" anchor="t">
            <a:spAutoFit/>
          </a:bodyPr>
          <a:lstStyle/>
          <a:p>
            <a:pPr algn="ctr">
              <a:lnSpc>
                <a:spcPts val="3640"/>
              </a:lnSpc>
            </a:pPr>
            <a:r>
              <a:rPr lang="en-US" sz="2600" b="1">
                <a:solidFill>
                  <a:srgbClr val="FFFFFF"/>
                </a:solidFill>
                <a:latin typeface="Canva Sans Bold"/>
                <a:ea typeface="Canva Sans Bold"/>
                <a:cs typeface="Canva Sans Bold"/>
                <a:sym typeface="Canva Sans Bold"/>
              </a:rPr>
              <a:t>PRESENTATION TIER</a:t>
            </a:r>
          </a:p>
        </p:txBody>
      </p:sp>
      <p:sp>
        <p:nvSpPr>
          <p:cNvPr id="17" name="TextBox 17"/>
          <p:cNvSpPr txBox="1"/>
          <p:nvPr/>
        </p:nvSpPr>
        <p:spPr>
          <a:xfrm>
            <a:off x="5777911" y="4572636"/>
            <a:ext cx="3100586" cy="448308"/>
          </a:xfrm>
          <a:prstGeom prst="rect">
            <a:avLst/>
          </a:prstGeom>
        </p:spPr>
        <p:txBody>
          <a:bodyPr lIns="0" tIns="0" rIns="0" bIns="0" rtlCol="0" anchor="t">
            <a:spAutoFit/>
          </a:bodyPr>
          <a:lstStyle/>
          <a:p>
            <a:pPr algn="ctr">
              <a:lnSpc>
                <a:spcPts val="3640"/>
              </a:lnSpc>
            </a:pPr>
            <a:r>
              <a:rPr lang="en-US" sz="2600" b="1">
                <a:solidFill>
                  <a:srgbClr val="FFFFFF"/>
                </a:solidFill>
                <a:latin typeface="Canva Sans Bold"/>
                <a:ea typeface="Canva Sans Bold"/>
                <a:cs typeface="Canva Sans Bold"/>
                <a:sym typeface="Canva Sans Bold"/>
              </a:rPr>
              <a:t>APPLICATION  TIER</a:t>
            </a:r>
          </a:p>
        </p:txBody>
      </p:sp>
      <p:sp>
        <p:nvSpPr>
          <p:cNvPr id="18" name="TextBox 18"/>
          <p:cNvSpPr txBox="1"/>
          <p:nvPr/>
        </p:nvSpPr>
        <p:spPr>
          <a:xfrm>
            <a:off x="10564143" y="4572636"/>
            <a:ext cx="1664097" cy="448308"/>
          </a:xfrm>
          <a:prstGeom prst="rect">
            <a:avLst/>
          </a:prstGeom>
        </p:spPr>
        <p:txBody>
          <a:bodyPr lIns="0" tIns="0" rIns="0" bIns="0" rtlCol="0" anchor="t">
            <a:spAutoFit/>
          </a:bodyPr>
          <a:lstStyle/>
          <a:p>
            <a:pPr algn="ctr">
              <a:lnSpc>
                <a:spcPts val="3640"/>
              </a:lnSpc>
            </a:pPr>
            <a:r>
              <a:rPr lang="en-US" sz="2600" b="1">
                <a:solidFill>
                  <a:srgbClr val="FFFFFF"/>
                </a:solidFill>
                <a:latin typeface="Canva Sans Bold"/>
                <a:ea typeface="Canva Sans Bold"/>
                <a:cs typeface="Canva Sans Bold"/>
                <a:sym typeface="Canva Sans Bold"/>
              </a:rPr>
              <a:t>DATA TIER</a:t>
            </a:r>
          </a:p>
        </p:txBody>
      </p:sp>
      <p:sp>
        <p:nvSpPr>
          <p:cNvPr id="19" name="TextBox 19"/>
          <p:cNvSpPr txBox="1"/>
          <p:nvPr/>
        </p:nvSpPr>
        <p:spPr>
          <a:xfrm>
            <a:off x="1257300" y="5582919"/>
            <a:ext cx="3942050" cy="3487164"/>
          </a:xfrm>
          <a:prstGeom prst="rect">
            <a:avLst/>
          </a:prstGeom>
        </p:spPr>
        <p:txBody>
          <a:bodyPr lIns="0" tIns="0" rIns="0" bIns="0" rtlCol="0" anchor="t">
            <a:spAutoFit/>
          </a:bodyPr>
          <a:lstStyle/>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HTML5 / CSS3</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Tailwind CSS</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JavaScript (ES6)</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Responsive Web Design</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User-friendly marketplace interface</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Farmer &amp; buyer dashboards</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Accessibility-focused UI (USSD simulation)</a:t>
            </a:r>
          </a:p>
        </p:txBody>
      </p:sp>
      <p:sp>
        <p:nvSpPr>
          <p:cNvPr id="20" name="TextBox 20"/>
          <p:cNvSpPr txBox="1"/>
          <p:nvPr/>
        </p:nvSpPr>
        <p:spPr>
          <a:xfrm>
            <a:off x="5611675" y="5582919"/>
            <a:ext cx="3942050" cy="3487164"/>
          </a:xfrm>
          <a:prstGeom prst="rect">
            <a:avLst/>
          </a:prstGeom>
        </p:spPr>
        <p:txBody>
          <a:bodyPr lIns="0" tIns="0" rIns="0" bIns="0" rtlCol="0" anchor="t">
            <a:spAutoFit/>
          </a:bodyPr>
          <a:lstStyle/>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PHP (Server-side scripting)</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Authentication &amp; Authorization</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Role-based access (Farmer, Buyer, Admin)</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Marketplace business logic</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Product &amp; oUser-friendly marketplace interface</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Farmer &amp; buyer dashboards</a:t>
            </a:r>
          </a:p>
        </p:txBody>
      </p:sp>
      <p:sp>
        <p:nvSpPr>
          <p:cNvPr id="21" name="TextBox 21"/>
          <p:cNvSpPr txBox="1"/>
          <p:nvPr/>
        </p:nvSpPr>
        <p:spPr>
          <a:xfrm>
            <a:off x="9970567" y="5582919"/>
            <a:ext cx="3942050" cy="3487164"/>
          </a:xfrm>
          <a:prstGeom prst="rect">
            <a:avLst/>
          </a:prstGeom>
        </p:spPr>
        <p:txBody>
          <a:bodyPr lIns="0" tIns="0" rIns="0" bIns="0" rtlCol="0" anchor="t">
            <a:spAutoFit/>
          </a:bodyPr>
          <a:lstStyle/>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Users Table (Farmers, Buyers, Admins)</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Products Table</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Orders Table</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Reviews &amp; Ratings Table</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Farmer Profiles Table</a:t>
            </a:r>
          </a:p>
          <a:p>
            <a:pPr marL="410218" lvl="1" indent="-205109" algn="just">
              <a:lnSpc>
                <a:spcPts val="3097"/>
              </a:lnSpc>
              <a:buFont typeface="Arial"/>
              <a:buChar char="•"/>
            </a:pPr>
            <a:r>
              <a:rPr lang="en-US" sz="1900">
                <a:solidFill>
                  <a:srgbClr val="FFFFFF"/>
                </a:solidFill>
                <a:latin typeface="Canva Sans"/>
                <a:ea typeface="Canva Sans"/>
                <a:cs typeface="Canva Sans"/>
                <a:sym typeface="Canva Sans"/>
              </a:rPr>
              <a:t>Advisory &amp; Location Data Tables</a:t>
            </a:r>
          </a:p>
          <a:p>
            <a:pPr algn="just">
              <a:lnSpc>
                <a:spcPts val="3097"/>
              </a:lnSpc>
            </a:pPr>
            <a:endParaRPr lang="en-US" sz="1900">
              <a:solidFill>
                <a:srgbClr val="FFFFFF"/>
              </a:solidFill>
              <a:latin typeface="Canva Sans"/>
              <a:ea typeface="Canva Sans"/>
              <a:cs typeface="Canva Sans"/>
              <a:sym typeface="Canva San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492</Words>
  <Application>Microsoft Office PowerPoint</Application>
  <PresentationFormat>Custom</PresentationFormat>
  <Paragraphs>56</Paragraphs>
  <Slides>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vt:i4>
      </vt:variant>
    </vt:vector>
  </HeadingPairs>
  <TitlesOfParts>
    <vt:vector size="16" baseType="lpstr">
      <vt:lpstr>Canva Sans</vt:lpstr>
      <vt:lpstr>Calibri</vt:lpstr>
      <vt:lpstr>Arial</vt:lpstr>
      <vt:lpstr>TT Rounds Condensed</vt:lpstr>
      <vt:lpstr>Calibri (MS) Bold</vt:lpstr>
      <vt:lpstr>Canva Sans Bold</vt:lpstr>
      <vt:lpstr>Calibri (MS)</vt:lpstr>
      <vt:lpstr>TT Rounds Condensed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Kwizera Olivier</dc:title>
  <cp:lastModifiedBy>Kwizera  Olivier</cp:lastModifiedBy>
  <cp:revision>2</cp:revision>
  <dcterms:created xsi:type="dcterms:W3CDTF">2006-08-16T00:00:00Z</dcterms:created>
  <dcterms:modified xsi:type="dcterms:W3CDTF">2025-12-18T21:40:53Z</dcterms:modified>
  <dc:identifier>DAG75XIGtqo</dc:identifier>
</cp:coreProperties>
</file>